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3fa43990321467c" /><Relationship Type="http://schemas.openxmlformats.org/officeDocument/2006/relationships/extended-properties" Target="/docProps/app.xml" Id="R56f0cfb3610a4dc6" /><Relationship Type="http://schemas.openxmlformats.org/officeDocument/2006/relationships/officeDocument" Target="/ppt/presentation.xml" Id="Rbc4ee5423c2c42f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ff975b168254552"/>
  </p:sldMasterIdLst>
  <p:notesMasterIdLst>
    <p:notesMasterId xmlns:r="http://schemas.openxmlformats.org/officeDocument/2006/relationships" r:id="R4d5acc7c8f2548db"/>
  </p:notesMasterIdLst>
  <p:sldIdLst>
    <p:sldId xmlns:r="http://schemas.openxmlformats.org/officeDocument/2006/relationships" id="256" r:id="R97952dd63e714e8b"/>
    <p:sldId xmlns:r="http://schemas.openxmlformats.org/officeDocument/2006/relationships" id="257" r:id="R3196dd6242404fc0"/>
    <p:sldId xmlns:r="http://schemas.openxmlformats.org/officeDocument/2006/relationships" id="258" r:id="R8b408674a45947c8"/>
    <p:sldId xmlns:r="http://schemas.openxmlformats.org/officeDocument/2006/relationships" id="259" r:id="Rb62fbf06951b4d69"/>
    <p:sldId xmlns:r="http://schemas.openxmlformats.org/officeDocument/2006/relationships" id="260" r:id="Rb69a00e24821405e"/>
    <p:sldId xmlns:r="http://schemas.openxmlformats.org/officeDocument/2006/relationships" id="261" r:id="Ra46a22276b454d73"/>
    <p:sldId xmlns:r="http://schemas.openxmlformats.org/officeDocument/2006/relationships" id="262" r:id="R90fd8c9d4a31491a"/>
    <p:sldId xmlns:r="http://schemas.openxmlformats.org/officeDocument/2006/relationships" id="263" r:id="R1ecf10b9a18149e1"/>
    <p:sldId xmlns:r="http://schemas.openxmlformats.org/officeDocument/2006/relationships" id="264" r:id="R10293e8caa544743"/>
    <p:sldId xmlns:r="http://schemas.openxmlformats.org/officeDocument/2006/relationships" id="265" r:id="R071752baef8e4b1f"/>
    <p:sldId xmlns:r="http://schemas.openxmlformats.org/officeDocument/2006/relationships" id="266" r:id="R4f4bb7d8d06c47c8"/>
    <p:sldId xmlns:r="http://schemas.openxmlformats.org/officeDocument/2006/relationships" id="267" r:id="R57f5bbef284d453d"/>
    <p:sldId xmlns:r="http://schemas.openxmlformats.org/officeDocument/2006/relationships" id="268" r:id="R109c909b99e147c2"/>
    <p:sldId xmlns:r="http://schemas.openxmlformats.org/officeDocument/2006/relationships" id="269" r:id="R3508a1651bc448cc"/>
    <p:sldId xmlns:r="http://schemas.openxmlformats.org/officeDocument/2006/relationships" id="270" r:id="Re15216070107410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5e696759ea14271" /><Relationship Type="http://schemas.openxmlformats.org/officeDocument/2006/relationships/slideMaster" Target="/ppt/slideMasters/slideMaster1.xml" Id="Rdff975b168254552" /><Relationship Type="http://schemas.openxmlformats.org/officeDocument/2006/relationships/notesMaster" Target="/ppt/notesMasters/notesMaster1.xml" Id="R4d5acc7c8f2548db" /><Relationship Type="http://schemas.openxmlformats.org/officeDocument/2006/relationships/presProps" Target="/ppt/presProps.xml" Id="R75671f0078074c6f" /><Relationship Type="http://schemas.openxmlformats.org/officeDocument/2006/relationships/tableStyles" Target="/ppt/tableStyles.xml" Id="Radfa263dafcb46af" /><Relationship Type="http://schemas.openxmlformats.org/officeDocument/2006/relationships/slide" Target="/ppt/slides/slide1.xml" Id="R97952dd63e714e8b" /><Relationship Type="http://schemas.openxmlformats.org/officeDocument/2006/relationships/slide" Target="/ppt/slides/slide2.xml" Id="R3196dd6242404fc0" /><Relationship Type="http://schemas.openxmlformats.org/officeDocument/2006/relationships/slide" Target="/ppt/slides/slide3.xml" Id="R8b408674a45947c8" /><Relationship Type="http://schemas.openxmlformats.org/officeDocument/2006/relationships/slide" Target="/ppt/slides/slide4.xml" Id="Rb62fbf06951b4d69" /><Relationship Type="http://schemas.openxmlformats.org/officeDocument/2006/relationships/slide" Target="/ppt/slides/slide5.xml" Id="Rb69a00e24821405e" /><Relationship Type="http://schemas.openxmlformats.org/officeDocument/2006/relationships/slide" Target="/ppt/slides/slide6.xml" Id="Ra46a22276b454d73" /><Relationship Type="http://schemas.openxmlformats.org/officeDocument/2006/relationships/slide" Target="/ppt/slides/slide7.xml" Id="R90fd8c9d4a31491a" /><Relationship Type="http://schemas.openxmlformats.org/officeDocument/2006/relationships/slide" Target="/ppt/slides/slide8.xml" Id="R1ecf10b9a18149e1" /><Relationship Type="http://schemas.openxmlformats.org/officeDocument/2006/relationships/slide" Target="/ppt/slides/slide9.xml" Id="R10293e8caa544743" /><Relationship Type="http://schemas.openxmlformats.org/officeDocument/2006/relationships/slide" Target="/ppt/slides/slide10.xml" Id="R071752baef8e4b1f" /><Relationship Type="http://schemas.openxmlformats.org/officeDocument/2006/relationships/slide" Target="/ppt/slides/slide11.xml" Id="R4f4bb7d8d06c47c8" /><Relationship Type="http://schemas.openxmlformats.org/officeDocument/2006/relationships/slide" Target="/ppt/slides/slide12.xml" Id="R57f5bbef284d453d" /><Relationship Type="http://schemas.openxmlformats.org/officeDocument/2006/relationships/slide" Target="/ppt/slides/slide13.xml" Id="R109c909b99e147c2" /><Relationship Type="http://schemas.openxmlformats.org/officeDocument/2006/relationships/slide" Target="/ppt/slides/slide14.xml" Id="R3508a1651bc448cc" /><Relationship Type="http://schemas.openxmlformats.org/officeDocument/2006/relationships/slide" Target="/ppt/slides/slide15.xml" Id="Re15216070107410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add7bf4cf95460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69a8823d89847d1" /><Relationship Type="http://schemas.openxmlformats.org/officeDocument/2006/relationships/notesMaster" Target="/ppt/notesMasters/notesMaster1.xml" Id="Rafadd04d7fa0441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d6c299201004e01" /><Relationship Type="http://schemas.openxmlformats.org/officeDocument/2006/relationships/notesMaster" Target="/ppt/notesMasters/notesMaster1.xml" Id="Rcdd805a93b3948c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7311aab19eb4cb4" /><Relationship Type="http://schemas.openxmlformats.org/officeDocument/2006/relationships/notesMaster" Target="/ppt/notesMasters/notesMaster1.xml" Id="R72cb637d9ddf431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98d61f9cb364bfb" /><Relationship Type="http://schemas.openxmlformats.org/officeDocument/2006/relationships/notesMaster" Target="/ppt/notesMasters/notesMaster1.xml" Id="R2c0a79e1f84541d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29e22f65320494e" /><Relationship Type="http://schemas.openxmlformats.org/officeDocument/2006/relationships/notesMaster" Target="/ppt/notesMasters/notesMaster1.xml" Id="R66d4a7eabb004cb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049ccb9e15d4f11" /><Relationship Type="http://schemas.openxmlformats.org/officeDocument/2006/relationships/notesMaster" Target="/ppt/notesMasters/notesMaster1.xml" Id="Rd5a323bd743945c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008c4a332e04d8c" /><Relationship Type="http://schemas.openxmlformats.org/officeDocument/2006/relationships/notesMaster" Target="/ppt/notesMasters/notesMaster1.xml" Id="R2c89fbcb9ebf4e9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5b52601354c4425" /><Relationship Type="http://schemas.openxmlformats.org/officeDocument/2006/relationships/notesMaster" Target="/ppt/notesMasters/notesMaster1.xml" Id="Rda3c03fd7ff148e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244d7d605714bfc" /><Relationship Type="http://schemas.openxmlformats.org/officeDocument/2006/relationships/notesMaster" Target="/ppt/notesMasters/notesMaster1.xml" Id="Rc9bee0753f4049a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8231e61eca44c76" /><Relationship Type="http://schemas.openxmlformats.org/officeDocument/2006/relationships/notesMaster" Target="/ppt/notesMasters/notesMaster1.xml" Id="R96893d5a759d430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435ab4bff7540e4" /><Relationship Type="http://schemas.openxmlformats.org/officeDocument/2006/relationships/notesMaster" Target="/ppt/notesMasters/notesMaster1.xml" Id="R5355b13719b6443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b0b6c3d97654e7a" /><Relationship Type="http://schemas.openxmlformats.org/officeDocument/2006/relationships/notesMaster" Target="/ppt/notesMasters/notesMaster1.xml" Id="R5c4971d5734947c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4f3944313634cea" /><Relationship Type="http://schemas.openxmlformats.org/officeDocument/2006/relationships/notesMaster" Target="/ppt/notesMasters/notesMaster1.xml" Id="R07bdcfeb457f486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5c7e9e57f334ff2" /><Relationship Type="http://schemas.openxmlformats.org/officeDocument/2006/relationships/notesMaster" Target="/ppt/notesMasters/notesMaster1.xml" Id="Rf8d6350ecc6a4cc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f464cce6b564011" /><Relationship Type="http://schemas.openxmlformats.org/officeDocument/2006/relationships/notesMaster" Target="/ppt/notesMasters/notesMaster1.xml" Id="R488f8a04dbe14df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動画要約の対象: Codist「Every Type of API Explained in 18 Minutes」英語自動字幕 0:00–6:11、11:16–12:23。</a:t>
            </a:r>
          </a:p>
          <a:p xmlns:a="http://schemas.openxmlformats.org/drawingml/2006/main">
            <a:r>
              <a:t>https://www.youtube.com/watch?v=VQyPVCT2Kl8</a:t>
            </a:r>
          </a:p>
          <a:p xmlns:a="http://schemas.openxmlformats.org/drawingml/2006/main">
            <a:r>
              <a:t>図・コード例・比較軸は学習用に再構成。</a:t>
            </a:r>
          </a:p>
          <a:p xmlns:a="http://schemas.openxmlformats.org/drawingml/2006/main">
            <a:r>
              <a:t>補足・照合資料:</a:t>
            </a:r>
          </a:p>
          <a:p xmlns:a="http://schemas.openxmlformats.org/drawingml/2006/main">
            <a:r>
              <a:t>https://ics.uci.edu/~fielding/pubs/dissertation/rest_arch_style.htm</a:t>
            </a:r>
          </a:p>
          <a:p xmlns:a="http://schemas.openxmlformats.org/drawingml/2006/main">
            <a:r>
              <a:t>https://www.w3.org/TR/soap12-part1/</a:t>
            </a:r>
          </a:p>
          <a:p xmlns:a="http://schemas.openxmlformats.org/drawingml/2006/main">
            <a:r>
              <a:t>https://graphql.org/learn/</a:t>
            </a:r>
          </a:p>
          <a:p xmlns:a="http://schemas.openxmlformats.org/drawingml/2006/main">
            <a:r>
              <a:t>https://grpc.io/docs/what-is-grpc/core-concepts/</a:t>
            </a:r>
          </a:p>
          <a:p xmlns:a="http://schemas.openxmlformats.org/drawingml/2006/main">
            <a:r>
              <a:t>https://graphql.org/learn/performance/</a:t>
            </a:r>
          </a:p>
          <a:p xmlns:a="http://schemas.openxmlformats.org/drawingml/2006/main">
            <a:r>
              <a:t>https://grpc.io/docs/platforms/web/basics/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動画要約の対象: Codist「Every Type of API Explained in 18 Minutes」英語自動字幕 REST 0:00–1:29 / SOAP 1:29–2:49 / gRPC 2:49–4:40 / GraphQL 4:40–6:11。</a:t>
            </a:r>
          </a:p>
          <a:p xmlns:a="http://schemas.openxmlformats.org/drawingml/2006/main">
            <a:r>
              <a:t>https://www.youtube.com/watch?v=VQyPVCT2Kl8</a:t>
            </a:r>
          </a:p>
          <a:p xmlns:a="http://schemas.openxmlformats.org/drawingml/2006/main">
            <a:r>
              <a:t>図・コード例・比較軸は学習用に再構成。</a:t>
            </a:r>
          </a:p>
          <a:p xmlns:a="http://schemas.openxmlformats.org/drawingml/2006/main">
            <a:r>
              <a:t>補足・照合資料:</a:t>
            </a:r>
          </a:p>
          <a:p xmlns:a="http://schemas.openxmlformats.org/drawingml/2006/main">
            <a:r>
              <a:t>https://ics.uci.edu/~fielding/pubs/dissertation/rest_arch_style.htm</a:t>
            </a:r>
          </a:p>
          <a:p xmlns:a="http://schemas.openxmlformats.org/drawingml/2006/main">
            <a:r>
              <a:t>https://www.w3.org/TR/soap12-part1/</a:t>
            </a:r>
          </a:p>
          <a:p xmlns:a="http://schemas.openxmlformats.org/drawingml/2006/main">
            <a:r>
              <a:t>https://graphql.org/learn/</a:t>
            </a:r>
          </a:p>
          <a:p xmlns:a="http://schemas.openxmlformats.org/drawingml/2006/main">
            <a:r>
              <a:t>https://grpc.io/docs/what-is-grpc/core-concepts/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動画要約の対象: Codist「Every Type of API Explained in 18 Minutes」英語自動字幕 0:00–1:29。</a:t>
            </a:r>
          </a:p>
          <a:p xmlns:a="http://schemas.openxmlformats.org/drawingml/2006/main">
            <a:r>
              <a:t>https://www.youtube.com/watch?v=VQyPVCT2Kl8</a:t>
            </a:r>
          </a:p>
          <a:p xmlns:a="http://schemas.openxmlformats.org/drawingml/2006/main">
            <a:r>
              <a:t>図・コード例・比較軸は学習用に再構成。</a:t>
            </a:r>
          </a:p>
          <a:p xmlns:a="http://schemas.openxmlformats.org/drawingml/2006/main">
            <a:r>
              <a:t>補足・照合資料:</a:t>
            </a:r>
          </a:p>
          <a:p xmlns:a="http://schemas.openxmlformats.org/drawingml/2006/main">
            <a:r>
              <a:t>https://ics.uci.edu/~fielding/pubs/dissertation/rest_arch_style.htm</a:t>
            </a:r>
          </a:p>
          <a:p xmlns:a="http://schemas.openxmlformats.org/drawingml/2006/main">
            <a:r>
              <a:t>https://www.rfc-editor.org/rfc/rfc9110.html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動画要約の対象: Codist「Every Type of API Explained in 18 Minutes」英語自動字幕 1:29–2:49。</a:t>
            </a:r>
          </a:p>
          <a:p xmlns:a="http://schemas.openxmlformats.org/drawingml/2006/main">
            <a:r>
              <a:t>https://www.youtube.com/watch?v=VQyPVCT2Kl8</a:t>
            </a:r>
          </a:p>
          <a:p xmlns:a="http://schemas.openxmlformats.org/drawingml/2006/main">
            <a:r>
              <a:t>図・コード例・比較軸は学習用に再構成。</a:t>
            </a:r>
          </a:p>
          <a:p xmlns:a="http://schemas.openxmlformats.org/drawingml/2006/main">
            <a:r>
              <a:t>補足・照合資料:</a:t>
            </a:r>
          </a:p>
          <a:p xmlns:a="http://schemas.openxmlformats.org/drawingml/2006/main">
            <a:r>
              <a:t>https://www.w3.org/TR/soap12-part1/</a:t>
            </a:r>
          </a:p>
          <a:p xmlns:a="http://schemas.openxmlformats.org/drawingml/2006/main">
            <a:r>
              <a:t>https://www.w3.org/TR/wsdl20/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動画要約の対象: Codist「Every Type of API Explained in 18 Minutes」英語自動字幕 4:40–6:11。</a:t>
            </a:r>
          </a:p>
          <a:p xmlns:a="http://schemas.openxmlformats.org/drawingml/2006/main">
            <a:r>
              <a:t>https://www.youtube.com/watch?v=VQyPVCT2Kl8</a:t>
            </a:r>
          </a:p>
          <a:p xmlns:a="http://schemas.openxmlformats.org/drawingml/2006/main">
            <a:r>
              <a:t>図・コード例・比較軸は学習用に再構成。</a:t>
            </a:r>
          </a:p>
          <a:p xmlns:a="http://schemas.openxmlformats.org/drawingml/2006/main">
            <a:r>
              <a:t>補足・照合資料:</a:t>
            </a:r>
          </a:p>
          <a:p xmlns:a="http://schemas.openxmlformats.org/drawingml/2006/main">
            <a:r>
              <a:t>https://graphql.org/learn/</a:t>
            </a:r>
          </a:p>
          <a:p xmlns:a="http://schemas.openxmlformats.org/drawingml/2006/main">
            <a:r>
              <a:t>https://graphql.org/learn/performance/</a:t>
            </a:r>
          </a:p>
          <a:p xmlns:a="http://schemas.openxmlformats.org/drawingml/2006/main">
            <a:r>
              <a:t>https://graphql.org/learn/queries/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動画要約の対象: Codist「Every Type of API Explained in 18 Minutes」英語自動字幕 2:49–4:40、11:16–12:23。</a:t>
            </a:r>
          </a:p>
          <a:p xmlns:a="http://schemas.openxmlformats.org/drawingml/2006/main">
            <a:r>
              <a:t>https://www.youtube.com/watch?v=VQyPVCT2Kl8</a:t>
            </a:r>
          </a:p>
          <a:p xmlns:a="http://schemas.openxmlformats.org/drawingml/2006/main">
            <a:r>
              <a:t>図・コード例・比較軸は学習用に再構成。</a:t>
            </a:r>
          </a:p>
          <a:p xmlns:a="http://schemas.openxmlformats.org/drawingml/2006/main">
            <a:r>
              <a:t>補足・照合資料:</a:t>
            </a:r>
          </a:p>
          <a:p xmlns:a="http://schemas.openxmlformats.org/drawingml/2006/main">
            <a:r>
              <a:t>https://grpc.io/docs/what-is-grpc/core-concepts/</a:t>
            </a:r>
          </a:p>
          <a:p xmlns:a="http://schemas.openxmlformats.org/drawingml/2006/main">
            <a:r>
              <a:t>https://grpc.io/docs/platforms/web/basics/</a:t>
            </a:r>
          </a:p>
          <a:p xmlns:a="http://schemas.openxmlformats.org/drawingml/2006/main">
            <a:r>
              <a:t>https://protobuf.dev/overview/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動画要約の対象: Codist「Every Type of API Explained in 18 Minutes」英語自動字幕 4:09–4:26。</a:t>
            </a:r>
          </a:p>
          <a:p xmlns:a="http://schemas.openxmlformats.org/drawingml/2006/main">
            <a:r>
              <a:t>https://www.youtube.com/watch?v=VQyPVCT2Kl8</a:t>
            </a:r>
          </a:p>
          <a:p xmlns:a="http://schemas.openxmlformats.org/drawingml/2006/main">
            <a:r>
              <a:t>図・コード例・比較軸は学習用に再構成。</a:t>
            </a:r>
          </a:p>
          <a:p xmlns:a="http://schemas.openxmlformats.org/drawingml/2006/main">
            <a:r>
              <a:t>補足・照合資料:</a:t>
            </a:r>
          </a:p>
          <a:p xmlns:a="http://schemas.openxmlformats.org/drawingml/2006/main">
            <a:r>
              <a:t>https://grpc.io/docs/what-is-grpc/core-concepts/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動画要約の対象: Codist「Every Type of API Explained in 18 Minutes」英語自動字幕 各方式の説明をもとに再構成。</a:t>
            </a:r>
          </a:p>
          <a:p xmlns:a="http://schemas.openxmlformats.org/drawingml/2006/main">
            <a:r>
              <a:t>https://www.youtube.com/watch?v=VQyPVCT2Kl8</a:t>
            </a:r>
          </a:p>
          <a:p xmlns:a="http://schemas.openxmlformats.org/drawingml/2006/main">
            <a:r>
              <a:t>図・コード例・比較軸は学習用に再構成。</a:t>
            </a:r>
          </a:p>
          <a:p xmlns:a="http://schemas.openxmlformats.org/drawingml/2006/main">
            <a:r>
              <a:t>補足・照合資料:</a:t>
            </a:r>
          </a:p>
          <a:p xmlns:a="http://schemas.openxmlformats.org/drawingml/2006/main">
            <a:r>
              <a:t>https://ics.uci.edu/~fielding/pubs/dissertation/rest_arch_style.htm</a:t>
            </a:r>
          </a:p>
          <a:p xmlns:a="http://schemas.openxmlformats.org/drawingml/2006/main">
            <a:r>
              <a:t>https://www.w3.org/TR/soap12-part1/</a:t>
            </a:r>
          </a:p>
          <a:p xmlns:a="http://schemas.openxmlformats.org/drawingml/2006/main">
            <a:r>
              <a:t>https://graphql.org/learn/</a:t>
            </a:r>
          </a:p>
          <a:p xmlns:a="http://schemas.openxmlformats.org/drawingml/2006/main">
            <a:r>
              <a:t>https://grpc.io/docs/what-is-grpc/core-concepts/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動画要約の対象: Codist「Every Type of API Explained in 18 Minutes」英語自動字幕 0:00–2:49。短所と選定軸は補足。</a:t>
            </a:r>
          </a:p>
          <a:p xmlns:a="http://schemas.openxmlformats.org/drawingml/2006/main">
            <a:r>
              <a:t>https://www.youtube.com/watch?v=VQyPVCT2Kl8</a:t>
            </a:r>
          </a:p>
          <a:p xmlns:a="http://schemas.openxmlformats.org/drawingml/2006/main">
            <a:r>
              <a:t>図・コード例・比較軸は学習用に再構成。</a:t>
            </a:r>
          </a:p>
          <a:p xmlns:a="http://schemas.openxmlformats.org/drawingml/2006/main">
            <a:r>
              <a:t>補足・照合資料:</a:t>
            </a:r>
          </a:p>
          <a:p xmlns:a="http://schemas.openxmlformats.org/drawingml/2006/main">
            <a:r>
              <a:t>https://ics.uci.edu/~fielding/pubs/dissertation/rest_arch_style.htm</a:t>
            </a:r>
          </a:p>
          <a:p xmlns:a="http://schemas.openxmlformats.org/drawingml/2006/main">
            <a:r>
              <a:t>https://www.w3.org/TR/soap12-part1/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動画要約の対象: Codist「Every Type of API Explained in 18 Minutes」英語自動字幕 2:49–6:11。短所と運用課題は補足。</a:t>
            </a:r>
          </a:p>
          <a:p xmlns:a="http://schemas.openxmlformats.org/drawingml/2006/main">
            <a:r>
              <a:t>https://www.youtube.com/watch?v=VQyPVCT2Kl8</a:t>
            </a:r>
          </a:p>
          <a:p xmlns:a="http://schemas.openxmlformats.org/drawingml/2006/main">
            <a:r>
              <a:t>図・コード例・比較軸は学習用に再構成。</a:t>
            </a:r>
          </a:p>
          <a:p xmlns:a="http://schemas.openxmlformats.org/drawingml/2006/main">
            <a:r>
              <a:t>補足・照合資料:</a:t>
            </a:r>
          </a:p>
          <a:p xmlns:a="http://schemas.openxmlformats.org/drawingml/2006/main">
            <a:r>
              <a:t>https://graphql.org/learn/</a:t>
            </a:r>
          </a:p>
          <a:p xmlns:a="http://schemas.openxmlformats.org/drawingml/2006/main">
            <a:r>
              <a:t>https://graphql.org/learn/performance/</a:t>
            </a:r>
          </a:p>
          <a:p xmlns:a="http://schemas.openxmlformats.org/drawingml/2006/main">
            <a:r>
              <a:t>https://grpc.io/docs/what-is-grpc/core-concepts/</a:t>
            </a:r>
          </a:p>
          <a:p xmlns:a="http://schemas.openxmlformats.org/drawingml/2006/main">
            <a:r>
              <a:t>https://grpc.io/docs/platforms/web/basics/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動画要約の対象: Codist「Every Type of API Explained in 18 Minutes」英語自動字幕 動画の用途例を一般化。選定の手掛かりは本資料の整理。</a:t>
            </a:r>
          </a:p>
          <a:p xmlns:a="http://schemas.openxmlformats.org/drawingml/2006/main">
            <a:r>
              <a:t>https://www.youtube.com/watch?v=VQyPVCT2Kl8</a:t>
            </a:r>
          </a:p>
          <a:p xmlns:a="http://schemas.openxmlformats.org/drawingml/2006/main">
            <a:r>
              <a:t>図・コード例・比較軸は学習用に再構成。</a:t>
            </a:r>
          </a:p>
          <a:p xmlns:a="http://schemas.openxmlformats.org/drawingml/2006/main">
            <a:r>
              <a:t>補足・照合資料:</a:t>
            </a:r>
          </a:p>
          <a:p xmlns:a="http://schemas.openxmlformats.org/drawingml/2006/main">
            <a:r>
              <a:t>https://ics.uci.edu/~fielding/pubs/dissertation/rest_arch_style.htm</a:t>
            </a:r>
          </a:p>
          <a:p xmlns:a="http://schemas.openxmlformats.org/drawingml/2006/main">
            <a:r>
              <a:t>https://www.w3.org/TR/soap12-part1/</a:t>
            </a:r>
          </a:p>
          <a:p xmlns:a="http://schemas.openxmlformats.org/drawingml/2006/main">
            <a:r>
              <a:t>https://graphql.org/learn/</a:t>
            </a:r>
          </a:p>
          <a:p xmlns:a="http://schemas.openxmlformats.org/drawingml/2006/main">
            <a:r>
              <a:t>https://grpc.io/docs/what-is-grpc/core-concepts/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動画要約の対象: Codist「Every Type of API Explained in 18 Minutes」英語自動字幕 動画から発展させた架空のECシステム構成例。推奨構成を一意に示すものではない。。</a:t>
            </a:r>
          </a:p>
          <a:p xmlns:a="http://schemas.openxmlformats.org/drawingml/2006/main">
            <a:r>
              <a:t>https://www.youtube.com/watch?v=VQyPVCT2Kl8</a:t>
            </a:r>
          </a:p>
          <a:p xmlns:a="http://schemas.openxmlformats.org/drawingml/2006/main">
            <a:r>
              <a:t>図・コード例・比較軸は学習用に再構成。</a:t>
            </a:r>
          </a:p>
          <a:p xmlns:a="http://schemas.openxmlformats.org/drawingml/2006/main">
            <a:r>
              <a:t>補足・照合資料:</a:t>
            </a:r>
          </a:p>
          <a:p xmlns:a="http://schemas.openxmlformats.org/drawingml/2006/main">
            <a:r>
              <a:t>https://graphql.org/learn/</a:t>
            </a:r>
          </a:p>
          <a:p xmlns:a="http://schemas.openxmlformats.org/drawingml/2006/main">
            <a:r>
              <a:t>https://grpc.io/docs/what-is-grpc/core-concepts/</a:t>
            </a:r>
          </a:p>
          <a:p xmlns:a="http://schemas.openxmlformats.org/drawingml/2006/main">
            <a:r>
              <a:t>https://www.w3.org/TR/soap12-part1/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動画要約の対象: Codist「Every Type of API Explained in 18 Minutes」英語自動字幕 1:24 RESTの用途、2:10–2:49 SOAPの保証、3:45–4:32 Protobufと性能、5:38–5:49 GraphQLとGitHub。</a:t>
            </a:r>
          </a:p>
          <a:p xmlns:a="http://schemas.openxmlformats.org/drawingml/2006/main">
            <a:r>
              <a:t>https://www.youtube.com/watch?v=VQyPVCT2Kl8</a:t>
            </a:r>
          </a:p>
          <a:p xmlns:a="http://schemas.openxmlformats.org/drawingml/2006/main">
            <a:r>
              <a:t>図・コード例・比較軸は学習用に再構成。</a:t>
            </a:r>
          </a:p>
          <a:p xmlns:a="http://schemas.openxmlformats.org/drawingml/2006/main">
            <a:r>
              <a:t>補足・照合資料:</a:t>
            </a:r>
          </a:p>
          <a:p xmlns:a="http://schemas.openxmlformats.org/drawingml/2006/main">
            <a:r>
              <a:t>https://www.w3.org/TR/soap12-part1/</a:t>
            </a:r>
          </a:p>
          <a:p xmlns:a="http://schemas.openxmlformats.org/drawingml/2006/main">
            <a:r>
              <a:t>https://grpc.io/docs/what-is-grpc/core-concepts/</a:t>
            </a:r>
          </a:p>
          <a:p xmlns:a="http://schemas.openxmlformats.org/drawingml/2006/main">
            <a:r>
              <a:t>https://protobuf.dev/overview/</a:t>
            </a:r>
          </a:p>
          <a:p xmlns:a="http://schemas.openxmlformats.org/drawingml/2006/main">
            <a:r>
              <a:t>https://grpc.io/docs/guides/benchmarking/</a:t>
            </a:r>
          </a:p>
          <a:p xmlns:a="http://schemas.openxmlformats.org/drawingml/2006/main">
            <a:r>
              <a:t>https://docs.github.com/en/rest</a:t>
            </a:r>
          </a:p>
          <a:p xmlns:a="http://schemas.openxmlformats.org/drawingml/2006/main">
            <a:r>
              <a:t>https://docs.github.com/en/graphql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動画要約の対象: Codist「Every Type of API Explained in 18 Minutes」英語自動字幕 全体18:18。英語自動字幕から要約。タイムスタンプは目安。。</a:t>
            </a:r>
          </a:p>
          <a:p xmlns:a="http://schemas.openxmlformats.org/drawingml/2006/main">
            <a:r>
              <a:t>https://www.youtube.com/watch?v=VQyPVCT2Kl8</a:t>
            </a:r>
          </a:p>
          <a:p xmlns:a="http://schemas.openxmlformats.org/drawingml/2006/main">
            <a:r>
              <a:t>図・コード例・比較軸は学習用に再構成。</a:t>
            </a:r>
          </a:p>
          <a:p xmlns:a="http://schemas.openxmlformats.org/drawingml/2006/main">
            <a:r>
              <a:t>補足・照合資料:</a:t>
            </a:r>
          </a:p>
          <a:p xmlns:a="http://schemas.openxmlformats.org/drawingml/2006/main">
            <a:r>
              <a:t>https://ics.uci.edu/~fielding/pubs/dissertation/rest_arch_style.htm</a:t>
            </a:r>
          </a:p>
          <a:p xmlns:a="http://schemas.openxmlformats.org/drawingml/2006/main">
            <a:r>
              <a:t>https://www.w3.org/TR/soap12-part1/</a:t>
            </a:r>
          </a:p>
          <a:p xmlns:a="http://schemas.openxmlformats.org/drawingml/2006/main">
            <a:r>
              <a:t>https://graphql.org/learn/</a:t>
            </a:r>
          </a:p>
          <a:p xmlns:a="http://schemas.openxmlformats.org/drawingml/2006/main">
            <a:r>
              <a:t>https://grpc.io/docs/what-is-grpc/core-concepts/</a:t>
            </a:r>
          </a:p>
          <a:p xmlns:a="http://schemas.openxmlformats.org/drawingml/2006/main">
            <a:r>
              <a:t>https://graphql.org/learn/performance/</a:t>
            </a:r>
          </a:p>
          <a:p xmlns:a="http://schemas.openxmlformats.org/drawingml/2006/main">
            <a:r>
              <a:t>https://grpc.io/docs/platforms/web/basics/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動画要約の対象: Codist「Every Type of API Explained in 18 Minutes」英語自動字幕 4方式の動画要約と公式資料による補足の総括。</a:t>
            </a:r>
          </a:p>
          <a:p xmlns:a="http://schemas.openxmlformats.org/drawingml/2006/main">
            <a:r>
              <a:t>https://www.youtube.com/watch?v=VQyPVCT2Kl8</a:t>
            </a:r>
          </a:p>
          <a:p xmlns:a="http://schemas.openxmlformats.org/drawingml/2006/main">
            <a:r>
              <a:t>図・コード例・比較軸は学習用に再構成。</a:t>
            </a:r>
          </a:p>
          <a:p xmlns:a="http://schemas.openxmlformats.org/drawingml/2006/main">
            <a:r>
              <a:t>補足・照合資料:</a:t>
            </a:r>
          </a:p>
          <a:p xmlns:a="http://schemas.openxmlformats.org/drawingml/2006/main">
            <a:r>
              <a:t>https://ics.uci.edu/~fielding/pubs/dissertation/rest_arch_style.htm</a:t>
            </a:r>
          </a:p>
          <a:p xmlns:a="http://schemas.openxmlformats.org/drawingml/2006/main">
            <a:r>
              <a:t>https://www.w3.org/TR/soap12-part1/</a:t>
            </a:r>
          </a:p>
          <a:p xmlns:a="http://schemas.openxmlformats.org/drawingml/2006/main">
            <a:r>
              <a:t>https://graphql.org/learn/</a:t>
            </a:r>
          </a:p>
          <a:p xmlns:a="http://schemas.openxmlformats.org/drawingml/2006/main">
            <a:r>
              <a:t>https://grpc.io/docs/what-is-grpc/core-concepts/</a:t>
            </a:r>
          </a:p>
          <a:p xmlns:a="http://schemas.openxmlformats.org/drawingml/2006/main">
            <a:r>
              <a:t>https://graphql.org/learn/performance/</a:t>
            </a:r>
          </a:p>
          <a:p xmlns:a="http://schemas.openxmlformats.org/drawingml/2006/main">
            <a:r>
              <a:t>https://grpc.io/docs/platforms/web/basics/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861727a06b419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7a921ae26cb4447" /><Relationship Type="http://schemas.openxmlformats.org/officeDocument/2006/relationships/slideLayout" Target="/ppt/slideLayouts/slideLayout1.xml" Id="R23b28cd96193435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3b28cd96193435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2aa55acf414b2b" /><Relationship Type="http://schemas.openxmlformats.org/officeDocument/2006/relationships/notesSlide" Target="/ppt/notesSlides/notesSlide1.xml" Id="Rab874db85c0d4f2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f5d6b24cd14cfc" /><Relationship Type="http://schemas.openxmlformats.org/officeDocument/2006/relationships/notesSlide" Target="/ppt/notesSlides/notesSlide2.xml" Id="Ra00f8f0a511f49f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c964afd265493e" /><Relationship Type="http://schemas.openxmlformats.org/officeDocument/2006/relationships/notesSlide" Target="/ppt/notesSlides/notesSlide3.xml" Id="R889e4405dd0b411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7a8bb9d37b43ad" /><Relationship Type="http://schemas.openxmlformats.org/officeDocument/2006/relationships/notesSlide" Target="/ppt/notesSlides/notesSlide4.xml" Id="Raed78e54245c422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75ed07f2004879" /><Relationship Type="http://schemas.openxmlformats.org/officeDocument/2006/relationships/notesSlide" Target="/ppt/notesSlides/notesSlide5.xml" Id="R02ae487a7ec04bd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4e5ae2aea246ea" /><Relationship Type="http://schemas.openxmlformats.org/officeDocument/2006/relationships/notesSlide" Target="/ppt/notesSlides/notesSlide6.xml" Id="R5db3011d89714df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449fee21d64174" /><Relationship Type="http://schemas.openxmlformats.org/officeDocument/2006/relationships/notesSlide" Target="/ppt/notesSlides/notesSlide7.xml" Id="R554bcc26e9ff415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5c8208fe044668" /><Relationship Type="http://schemas.openxmlformats.org/officeDocument/2006/relationships/notesSlide" Target="/ppt/notesSlides/notesSlide8.xml" Id="Rc247a3f2c8474bd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4b2b2ddac44d97" /><Relationship Type="http://schemas.openxmlformats.org/officeDocument/2006/relationships/notesSlide" Target="/ppt/notesSlides/notesSlide9.xml" Id="Rb9bba3c88b53406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b8e5eaa2d54fc9" /><Relationship Type="http://schemas.openxmlformats.org/officeDocument/2006/relationships/notesSlide" Target="/ppt/notesSlides/notesSlide10.xml" Id="R78c40475d93444a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31842f92204c9e" /><Relationship Type="http://schemas.openxmlformats.org/officeDocument/2006/relationships/notesSlide" Target="/ppt/notesSlides/notesSlide11.xml" Id="Rd5f93723d37244d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10f099cc2f4516" /><Relationship Type="http://schemas.openxmlformats.org/officeDocument/2006/relationships/notesSlide" Target="/ppt/notesSlides/notesSlide12.xml" Id="Rb452adadf6a04bf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aff151bce54187" /><Relationship Type="http://schemas.openxmlformats.org/officeDocument/2006/relationships/notesSlide" Target="/ppt/notesSlides/notesSlide13.xml" Id="R482f237bc78744b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df83c09c264741" /><Relationship Type="http://schemas.openxmlformats.org/officeDocument/2006/relationships/hyperlink" Target="https://www.youtube.com/watch?v=VQyPVCT2Kl8" TargetMode="External" Id="R8b1ce575faf64d58" /><Relationship Type="http://schemas.openxmlformats.org/officeDocument/2006/relationships/hyperlink" Target="https://www.youtube.com/watch?v=VQyPVCT2Kl8" TargetMode="External" Id="R5380c4bb4c204a50" /><Relationship Type="http://schemas.openxmlformats.org/officeDocument/2006/relationships/hyperlink" Target="https://ics.uci.edu/~fielding/pubs/dissertation/rest_arch_style.htm" TargetMode="External" Id="R261c4866080341d0" /><Relationship Type="http://schemas.openxmlformats.org/officeDocument/2006/relationships/hyperlink" Target="https://www.w3.org/TR/soap12-part1/" TargetMode="External" Id="R121adb4c87fb42f6" /><Relationship Type="http://schemas.openxmlformats.org/officeDocument/2006/relationships/hyperlink" Target="https://graphql.org/learn/" TargetMode="External" Id="R95dfc96f208045c4" /><Relationship Type="http://schemas.openxmlformats.org/officeDocument/2006/relationships/hyperlink" Target="https://grpc.io/docs/what-is-grpc/core-concepts/" TargetMode="External" Id="R4a9304f683d74025" /><Relationship Type="http://schemas.openxmlformats.org/officeDocument/2006/relationships/notesSlide" Target="/ppt/notesSlides/notesSlide14.xml" Id="R2a7d4a181ee64d8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d1fce8aee44da0" /><Relationship Type="http://schemas.openxmlformats.org/officeDocument/2006/relationships/notesSlide" Target="/ppt/notesSlides/notesSlide15.xml" Id="R8e77dadd03864f6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2A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E72FFF-AEF1-441C-9C82-19C36B66F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2DEBBC-5280-4E73-8EF8-293841239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055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26575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526575"/>
                </a:solidFill>
                <a:latin typeface="Yu Gothic"/>
                <a:ea typeface="Yu Gothic"/>
                <a:cs typeface="Yu Gothic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4040AC-C0FC-4380-B03B-A5F55E77D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43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APIの4方式を比較する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28941B-50C3-49F1-8DC7-91730CB84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10668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48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REST / SOAP</a:t>
            </a:r>
          </a:p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48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GraphQL / gRPC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813373-28B8-4F43-A798-EBEC0F771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BFD9E6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BFD9E6"/>
                </a:solidFill>
                <a:latin typeface="Yu Gothic"/>
                <a:ea typeface="Yu Gothic"/>
                <a:cs typeface="Yu Gothic"/>
              </a:rPr>
              <a:t>通信の仕組み・長所と短所・用途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56CA1C-3091-4CDE-9219-32568F32F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72125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BFD9E6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BFD9E6"/>
                </a:solidFill>
                <a:latin typeface="Yu Gothic"/>
                <a:ea typeface="Yu Gothic"/>
                <a:cs typeface="Yu Gothic"/>
              </a:rPr>
              <a:t>Codistの動画をもとにした日本語学習資料</a:t>
            </a:r>
          </a:p>
        </p:txBody>
      </p:sp>
    </p:spTree>
    <p:extLst>
      <p:ext uri="{BB962C8B-B14F-4D97-AF65-F5344CB8AC3E}">
        <p14:creationId xmlns:p14="http://schemas.microsoft.com/office/powerpoint/2010/main" val="186151009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FD4481-3BD4-4D04-BDB1-B128E9960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2A3A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72A3A"/>
                </a:solidFill>
                <a:latin typeface="Yu Gothic"/>
                <a:ea typeface="Yu Gothic"/>
                <a:cs typeface="Yu Gothic"/>
              </a:rPr>
              <a:t>4方式の位置づけ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6835B0-7971-457B-8723-6C81E79EA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52525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6575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526575"/>
                </a:solidFill>
                <a:latin typeface="Yu Gothic"/>
                <a:ea typeface="Yu Gothic"/>
                <a:cs typeface="Yu Gothic"/>
              </a:rPr>
              <a:t>同じ「API」でも、定義する対象と設計の中心が異なる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741C60-9AFC-4469-B341-4610A76B7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055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26575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526575"/>
                </a:solidFill>
                <a:latin typeface="Yu Gothic"/>
                <a:ea typeface="Yu Gothic"/>
                <a:cs typeface="Yu Gothic"/>
              </a:rPr>
              <a:t>02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790700"/>
          <a:ext xmlns:a="http://schemas.openxmlformats.org/drawingml/2006/main" cx="109728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05000"/>
                <a:gridCol w="4095750"/>
                <a:gridCol w="4972050"/>
              </a:tblGrid>
              <a:tr h="723900">
                <a:tc>
                  <a:txBody>
                    <a:bodyPr lIns="123825" tIns="95250" rIns="95250" bIns="9525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方式</a:t>
                      </a:r>
                    </a:p>
                  </a:txBody>
                  <a:tcPr marL="91440" marR="91440" marT="45720" marB="45720" anchor="ctr">
                    <a:solidFill>
                      <a:srgbClr val="172A3A"/>
                    </a:solidFill>
                  </a:tcPr>
                </a:tc>
                <a:tc>
                  <a:txBody>
                    <a:bodyPr lIns="123825" tIns="95250" rIns="95250" bIns="9525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何を定義するか</a:t>
                      </a:r>
                    </a:p>
                  </a:txBody>
                  <a:tcPr marL="91440" marR="91440" marT="45720" marB="45720" anchor="ctr">
                    <a:solidFill>
                      <a:srgbClr val="172A3A"/>
                    </a:solidFill>
                  </a:tcPr>
                </a:tc>
                <a:tc>
                  <a:txBody>
                    <a:bodyPr lIns="123825" tIns="95250" rIns="95250" bIns="9525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設計の中心</a:t>
                      </a:r>
                    </a:p>
                  </a:txBody>
                  <a:tcPr marL="91440" marR="91440" marT="45720" marB="45720" anchor="ctr">
                    <a:solidFill>
                      <a:srgbClr val="172A3A"/>
                    </a:solidFill>
                  </a:tcPr>
                </a:tc>
              </a:tr>
              <a:tr h="723900">
                <a:tc>
                  <a:txBody>
                    <a:bodyPr lIns="123825" tIns="95250" rIns="95250" bIns="95250"/>
                    <a:lstStyle/>
                    <a:p>
                      <a:r>
                        <a:rPr sz="1950" b="1">
                          <a:solidFill>
                            <a:srgbClr val="172A3A"/>
                          </a:solidFill>
                          <a:latin typeface="Yu Gothic"/>
                          <a:ea typeface="Yu Gothic"/>
                          <a:cs typeface="Yu Gothic"/>
                        </a:rPr>
                        <a:t>REST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95250" rIns="95250" bIns="95250"/>
                    <a:lstStyle/>
                    <a:p>
                      <a:r>
                        <a:rPr sz="1950" b="0">
                          <a:solidFill>
                            <a:srgbClr val="172A3A"/>
                          </a:solidFill>
                          <a:latin typeface="Yu Gothic"/>
                          <a:ea typeface="Yu Gothic"/>
                          <a:cs typeface="Yu Gothic"/>
                        </a:rPr>
                        <a:t>アーキテクチャスタイル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95250" rIns="95250" bIns="95250"/>
                    <a:lstStyle/>
                    <a:p>
                      <a:r>
                        <a:rPr sz="1950" b="0">
                          <a:solidFill>
                            <a:srgbClr val="172A3A"/>
                          </a:solidFill>
                          <a:latin typeface="Yu Gothic"/>
                          <a:ea typeface="Yu Gothic"/>
                          <a:cs typeface="Yu Gothic"/>
                        </a:rPr>
                        <a:t>リソースと統一インターフェース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 lIns="123825" tIns="95250" rIns="95250" bIns="95250"/>
                    <a:lstStyle/>
                    <a:p>
                      <a:r>
                        <a:rPr sz="1950" b="1">
                          <a:solidFill>
                            <a:srgbClr val="172A3A"/>
                          </a:solidFill>
                          <a:latin typeface="Yu Gothic"/>
                          <a:ea typeface="Yu Gothic"/>
                          <a:cs typeface="Yu Gothic"/>
                        </a:rPr>
                        <a:t>SOAP</a:t>
                      </a:r>
                    </a:p>
                  </a:txBody>
                  <a:tcPr marL="91440" marR="91440" marT="45720" marB="45720" anchor="ctr">
                    <a:solidFill>
                      <a:srgbClr val="EEF3F6"/>
                    </a:solidFill>
                  </a:tcPr>
                </a:tc>
                <a:tc>
                  <a:txBody>
                    <a:bodyPr lIns="123825" tIns="95250" rIns="95250" bIns="95250"/>
                    <a:lstStyle/>
                    <a:p>
                      <a:r>
                        <a:rPr sz="1950" b="0">
                          <a:solidFill>
                            <a:srgbClr val="172A3A"/>
                          </a:solidFill>
                          <a:latin typeface="Yu Gothic"/>
                          <a:ea typeface="Yu Gothic"/>
                          <a:cs typeface="Yu Gothic"/>
                        </a:rPr>
                        <a:t>メッセージ交換プロトコル</a:t>
                      </a:r>
                    </a:p>
                  </a:txBody>
                  <a:tcPr marL="91440" marR="91440" marT="45720" marB="45720" anchor="ctr">
                    <a:solidFill>
                      <a:srgbClr val="EEF3F6"/>
                    </a:solidFill>
                  </a:tcPr>
                </a:tc>
                <a:tc>
                  <a:txBody>
                    <a:bodyPr lIns="123825" tIns="95250" rIns="95250" bIns="95250"/>
                    <a:lstStyle/>
                    <a:p>
                      <a:r>
                        <a:rPr sz="1950" b="0">
                          <a:solidFill>
                            <a:srgbClr val="172A3A"/>
                          </a:solidFill>
                          <a:latin typeface="Yu Gothic"/>
                          <a:ea typeface="Yu Gothic"/>
                          <a:cs typeface="Yu Gothic"/>
                        </a:rPr>
                        <a:t>XMLメッセージと処理規則</a:t>
                      </a:r>
                    </a:p>
                  </a:txBody>
                  <a:tcPr marL="91440" marR="91440" marT="45720" marB="45720" anchor="ctr">
                    <a:solidFill>
                      <a:srgbClr val="EEF3F6"/>
                    </a:solidFill>
                  </a:tcPr>
                </a:tc>
              </a:tr>
              <a:tr h="723900">
                <a:tc>
                  <a:txBody>
                    <a:bodyPr lIns="123825" tIns="95250" rIns="95250" bIns="95250"/>
                    <a:lstStyle/>
                    <a:p>
                      <a:r>
                        <a:rPr sz="1950" b="1">
                          <a:solidFill>
                            <a:srgbClr val="172A3A"/>
                          </a:solidFill>
                          <a:latin typeface="Yu Gothic"/>
                          <a:ea typeface="Yu Gothic"/>
                          <a:cs typeface="Yu Gothic"/>
                        </a:rPr>
                        <a:t>GraphQL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95250" rIns="95250" bIns="95250"/>
                    <a:lstStyle/>
                    <a:p>
                      <a:r>
                        <a:rPr sz="1950" b="0">
                          <a:solidFill>
                            <a:srgbClr val="172A3A"/>
                          </a:solidFill>
                          <a:latin typeface="Yu Gothic"/>
                          <a:ea typeface="Yu Gothic"/>
                          <a:cs typeface="Yu Gothic"/>
                        </a:rPr>
                        <a:t>クエリ言語と実行仕様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95250" rIns="95250" bIns="95250"/>
                    <a:lstStyle/>
                    <a:p>
                      <a:r>
                        <a:rPr sz="1950" b="0">
                          <a:solidFill>
                            <a:srgbClr val="172A3A"/>
                          </a:solidFill>
                          <a:latin typeface="Yu Gothic"/>
                          <a:ea typeface="Yu Gothic"/>
                          <a:cs typeface="Yu Gothic"/>
                        </a:rPr>
                        <a:t>型付きスキーマと必要なフィールド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 lIns="123825" tIns="95250" rIns="95250" bIns="95250"/>
                    <a:lstStyle/>
                    <a:p>
                      <a:r>
                        <a:rPr sz="1950" b="1">
                          <a:solidFill>
                            <a:srgbClr val="172A3A"/>
                          </a:solidFill>
                          <a:latin typeface="Yu Gothic"/>
                          <a:ea typeface="Yu Gothic"/>
                          <a:cs typeface="Yu Gothic"/>
                        </a:rPr>
                        <a:t>gRPC</a:t>
                      </a:r>
                    </a:p>
                  </a:txBody>
                  <a:tcPr marL="91440" marR="91440" marT="45720" marB="45720" anchor="ctr">
                    <a:solidFill>
                      <a:srgbClr val="EEF3F6"/>
                    </a:solidFill>
                  </a:tcPr>
                </a:tc>
                <a:tc>
                  <a:txBody>
                    <a:bodyPr lIns="123825" tIns="95250" rIns="95250" bIns="95250"/>
                    <a:lstStyle/>
                    <a:p>
                      <a:r>
                        <a:rPr sz="1950" b="0">
                          <a:solidFill>
                            <a:srgbClr val="172A3A"/>
                          </a:solidFill>
                          <a:latin typeface="Yu Gothic"/>
                          <a:ea typeface="Yu Gothic"/>
                          <a:cs typeface="Yu Gothic"/>
                        </a:rPr>
                        <a:t>RPCフレームワーク</a:t>
                      </a:r>
                    </a:p>
                  </a:txBody>
                  <a:tcPr marL="91440" marR="91440" marT="45720" marB="45720" anchor="ctr">
                    <a:solidFill>
                      <a:srgbClr val="EEF3F6"/>
                    </a:solidFill>
                  </a:tcPr>
                </a:tc>
                <a:tc>
                  <a:txBody>
                    <a:bodyPr lIns="123825" tIns="95250" rIns="95250" bIns="95250"/>
                    <a:lstStyle/>
                    <a:p>
                      <a:r>
                        <a:rPr sz="1950" b="0">
                          <a:solidFill>
                            <a:srgbClr val="172A3A"/>
                          </a:solidFill>
                          <a:latin typeface="Yu Gothic"/>
                          <a:ea typeface="Yu Gothic"/>
                          <a:cs typeface="Yu Gothic"/>
                        </a:rPr>
                        <a:t>サービスのメソッド呼び出し</a:t>
                      </a:r>
                    </a:p>
                  </a:txBody>
                  <a:tcPr marL="91440" marR="91440" marT="45720" marB="45720" anchor="ctr">
                    <a:solidFill>
                      <a:srgbClr val="EEF3F6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AC3B7A-E026-43BE-B890-CE98661E6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72150"/>
            <a:ext cx="10896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6575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526575"/>
                </a:solidFill>
                <a:latin typeface="Yu Gothic"/>
                <a:ea typeface="Yu Gothic"/>
                <a:cs typeface="Yu Gothic"/>
              </a:rPr>
              <a:t>対象：18分18秒の動画のうち、主に冒頭約6分。後半のRPC説明も参照。</a:t>
            </a:r>
          </a:p>
        </p:txBody>
      </p:sp>
    </p:spTree>
    <p:extLst>
      <p:ext uri="{BB962C8B-B14F-4D97-AF65-F5344CB8AC3E}">
        <p14:creationId xmlns:p14="http://schemas.microsoft.com/office/powerpoint/2010/main" val="134321824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3C1733-FBCA-49A5-89C4-D70262A3C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2A3A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72A3A"/>
                </a:solidFill>
                <a:latin typeface="Yu Gothic"/>
                <a:ea typeface="Yu Gothic"/>
                <a:cs typeface="Yu Gothic"/>
              </a:rPr>
              <a:t>REST：リソースをHTTPで操作する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91F94C-7B6C-4647-AE9C-54C4F0BC1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52525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6575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526575"/>
                </a:solidFill>
                <a:latin typeface="Yu Gothic"/>
                <a:ea typeface="Yu Gothic"/>
                <a:cs typeface="Yu Gothic"/>
              </a:rPr>
              <a:t>動画 0:00–1:29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8B7532-C7AD-4659-A2B4-7B7459437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055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26575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526575"/>
                </a:solidFill>
                <a:latin typeface="Yu Gothic"/>
                <a:ea typeface="Yu Gothic"/>
                <a:cs typeface="Yu Gothic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5776FA-443C-4BFF-83F7-FC07DA996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43150"/>
            <a:ext cx="2333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26DA6"/>
            </a:solidFill>
          </a:ln>
        </p:spPr>
        <p:txBody>
          <a:bodyPr xmlns:a="http://schemas.openxmlformats.org/drawingml/2006/main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26DA6"/>
                </a:solidFill>
                <a:latin typeface="Yu Gothic"/>
                <a:ea typeface="Yu Gothic"/>
                <a:cs typeface="Yu Gothic"/>
              </a:defRPr>
            </a:pPr>
            <a:r>
              <a:rPr sz="1950" b="1">
                <a:solidFill>
                  <a:srgbClr val="126DA6"/>
                </a:solidFill>
                <a:latin typeface="Yu Gothic"/>
                <a:ea typeface="Yu Gothic"/>
                <a:cs typeface="Yu Gothic"/>
              </a:rPr>
              <a:t>クライアント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91A92E-0D7B-4B81-BBC4-16ED9C623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43150"/>
            <a:ext cx="26193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26DA6"/>
            </a:solidFill>
          </a:ln>
        </p:spPr>
        <p:txBody>
          <a:bodyPr xmlns:a="http://schemas.openxmlformats.org/drawingml/2006/main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26DA6"/>
                </a:solidFill>
                <a:latin typeface="Yu Gothic"/>
                <a:ea typeface="Yu Gothic"/>
                <a:cs typeface="Yu Gothic"/>
              </a:defRPr>
            </a:pPr>
            <a:r>
              <a:rPr sz="1950" b="1">
                <a:solidFill>
                  <a:srgbClr val="126DA6"/>
                </a:solidFill>
                <a:latin typeface="Yu Gothic"/>
                <a:ea typeface="Yu Gothic"/>
                <a:cs typeface="Yu Gothic"/>
              </a:rPr>
              <a:t>REST API</a:t>
            </a:r>
          </a:p>
          <a:p xmlns:a="http://schemas.openxmlformats.org/drawingml/2006/main">
            <a:pPr algn="ctr">
              <a:defRPr sz="1950" b="1">
                <a:solidFill>
                  <a:srgbClr val="126DA6"/>
                </a:solidFill>
                <a:latin typeface="Yu Gothic"/>
                <a:ea typeface="Yu Gothic"/>
                <a:cs typeface="Yu Gothic"/>
              </a:defRPr>
            </a:pPr>
            <a:r>
              <a:rPr sz="1950" b="1">
                <a:solidFill>
                  <a:srgbClr val="126DA6"/>
                </a:solidFill>
                <a:latin typeface="Yu Gothic"/>
                <a:ea typeface="Yu Gothic"/>
                <a:cs typeface="Yu Gothic"/>
              </a:rPr>
              <a:t>/users/123</a:t>
            </a:r>
          </a:p>
        </p:txBody>
      </p:sp>
      <p:cxnSp>
        <p:nvCxnSpPr>
          <p:cNvPr id="18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190875" y="2962275"/>
            <a:ext cx="53816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26DA6"/>
            </a:solidFill>
            <a:headEnd type="triangle" w="med" len="med"/>
            <a:tailEnd type="triangle" w="med" len="me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2AAFB4-01D3-4869-8D62-11AB233BA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0002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26DA6"/>
                </a:solidFill>
                <a:latin typeface="Yu Gothic"/>
                <a:ea typeface="Yu Gothic"/>
                <a:cs typeface="Yu Gothic"/>
              </a:defRPr>
            </a:pPr>
            <a:r>
              <a:rPr sz="2175" b="1">
                <a:solidFill>
                  <a:srgbClr val="126DA6"/>
                </a:solidFill>
                <a:latin typeface="Yu Gothic"/>
                <a:ea typeface="Yu Gothic"/>
                <a:cs typeface="Yu Gothic"/>
              </a:rPr>
              <a:t>GET /users/123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29F737-8233-4F97-AE57-3463B2120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37147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526575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526575"/>
                </a:solidFill>
                <a:latin typeface="Yu Gothic"/>
                <a:ea typeface="Yu Gothic"/>
                <a:cs typeface="Yu Gothic"/>
              </a:rPr>
              <a:t>200 OK + JSONなどの表現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1724DF-32B9-490F-BE51-FB417F2CC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19625"/>
            <a:ext cx="5095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26DA6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126DA6"/>
                </a:solidFill>
                <a:latin typeface="Yu Gothic"/>
                <a:ea typeface="Yu Gothic"/>
                <a:cs typeface="Yu Gothic"/>
              </a:rPr>
              <a:t>主な操作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AF5F49-0F46-47BC-B42B-EDABA8895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24450"/>
            <a:ext cx="509587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2A3A"/>
                </a:solidFill>
                <a:latin typeface="Yu Gothic"/>
                <a:ea typeface="Yu Gothic"/>
                <a:cs typeface="Yu Gothic"/>
              </a:defRPr>
            </a:pPr>
            <a:r>
              <a:rPr sz="1950" b="0">
                <a:solidFill>
                  <a:srgbClr val="172A3A"/>
                </a:solidFill>
                <a:latin typeface="Yu Gothic"/>
                <a:ea typeface="Yu Gothic"/>
                <a:cs typeface="Yu Gothic"/>
              </a:rPr>
              <a:t>GET：取得　POST：作成など</a:t>
            </a:r>
          </a:p>
          <a:p xmlns:a="http://schemas.openxmlformats.org/drawingml/2006/main">
            <a:pPr algn="l">
              <a:defRPr sz="1950" b="0">
                <a:solidFill>
                  <a:srgbClr val="172A3A"/>
                </a:solidFill>
                <a:latin typeface="Yu Gothic"/>
                <a:ea typeface="Yu Gothic"/>
                <a:cs typeface="Yu Gothic"/>
              </a:defRPr>
            </a:pPr>
            <a:r>
              <a:rPr sz="1950" b="0">
                <a:solidFill>
                  <a:srgbClr val="172A3A"/>
                </a:solidFill>
                <a:latin typeface="Yu Gothic"/>
                <a:ea typeface="Yu Gothic"/>
                <a:cs typeface="Yu Gothic"/>
              </a:rPr>
              <a:t>PUT：置換　DELETE：削除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C7A316-9D86-4F41-811D-EBF7EF13F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619625"/>
            <a:ext cx="5095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26DA6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126DA6"/>
                </a:solidFill>
                <a:latin typeface="Yu Gothic"/>
                <a:ea typeface="Yu Gothic"/>
                <a:cs typeface="Yu Gothic"/>
              </a:rPr>
              <a:t>ステートレス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71B91B-3404-4D1D-8AA6-D34647AC6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124450"/>
            <a:ext cx="509587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2A3A"/>
                </a:solidFill>
                <a:latin typeface="Yu Gothic"/>
                <a:ea typeface="Yu Gothic"/>
                <a:cs typeface="Yu Gothic"/>
              </a:defRPr>
            </a:pPr>
            <a:r>
              <a:rPr sz="1950" b="0">
                <a:solidFill>
                  <a:srgbClr val="172A3A"/>
                </a:solidFill>
                <a:latin typeface="Yu Gothic"/>
                <a:ea typeface="Yu Gothic"/>
                <a:cs typeface="Yu Gothic"/>
              </a:rPr>
              <a:t>各要求に必要な情報を含める。</a:t>
            </a:r>
          </a:p>
          <a:p xmlns:a="http://schemas.openxmlformats.org/drawingml/2006/main">
            <a:pPr algn="l">
              <a:defRPr sz="1950" b="0">
                <a:solidFill>
                  <a:srgbClr val="172A3A"/>
                </a:solidFill>
                <a:latin typeface="Yu Gothic"/>
                <a:ea typeface="Yu Gothic"/>
                <a:cs typeface="Yu Gothic"/>
              </a:defRPr>
            </a:pPr>
            <a:r>
              <a:rPr sz="1950" b="0">
                <a:solidFill>
                  <a:srgbClr val="172A3A"/>
                </a:solidFill>
                <a:latin typeface="Yu Gothic"/>
                <a:ea typeface="Yu Gothic"/>
                <a:cs typeface="Yu Gothic"/>
              </a:rPr>
              <a:t>業務データの保存は禁止しない。</a:t>
            </a:r>
          </a:p>
        </p:txBody>
      </p:sp>
    </p:spTree>
    <p:extLst>
      <p:ext uri="{BB962C8B-B14F-4D97-AF65-F5344CB8AC3E}">
        <p14:creationId xmlns:p14="http://schemas.microsoft.com/office/powerpoint/2010/main" val="198360360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1E819A-4638-4C37-B3E1-565BEA48A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2A3A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72A3A"/>
                </a:solidFill>
                <a:latin typeface="Yu Gothic"/>
                <a:ea typeface="Yu Gothic"/>
                <a:cs typeface="Yu Gothic"/>
              </a:rPr>
              <a:t>SOAP：構造化したXMLメッセージを交換する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C7EEBC-2F88-4D80-9707-F391C1857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52525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6575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526575"/>
                </a:solidFill>
                <a:latin typeface="Yu Gothic"/>
                <a:ea typeface="Yu Gothic"/>
                <a:cs typeface="Yu Gothic"/>
              </a:rPr>
              <a:t>動画 1:29–2:49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CDC332-D7F3-4685-B74F-DA4C22EF8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055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26575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526575"/>
                </a:solidFill>
                <a:latin typeface="Yu Gothic"/>
                <a:ea typeface="Yu Gothic"/>
                <a:cs typeface="Yu Gothic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AB94B5-0A8D-44C8-9BD9-A19F888F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2000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916125"/>
            </a:solidFill>
          </a:ln>
        </p:spPr>
        <p:txBody>
          <a:bodyPr xmlns:a="http://schemas.openxmlformats.org/drawingml/2006/main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916125"/>
                </a:solidFill>
                <a:latin typeface="Yu Gothic"/>
                <a:ea typeface="Yu Gothic"/>
                <a:cs typeface="Yu Gothic"/>
              </a:defRPr>
            </a:pPr>
            <a:r>
              <a:rPr sz="1950" b="1">
                <a:solidFill>
                  <a:srgbClr val="916125"/>
                </a:solidFill>
                <a:latin typeface="Yu Gothic"/>
                <a:ea typeface="Yu Gothic"/>
                <a:cs typeface="Yu Gothic"/>
              </a:rPr>
              <a:t>クライアント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A4B935-F9E9-426A-955A-7D22B1C96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381250"/>
            <a:ext cx="23336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916125"/>
            </a:solidFill>
          </a:ln>
        </p:spPr>
        <p:txBody>
          <a:bodyPr xmlns:a="http://schemas.openxmlformats.org/drawingml/2006/main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916125"/>
                </a:solidFill>
                <a:latin typeface="Yu Gothic"/>
                <a:ea typeface="Yu Gothic"/>
                <a:cs typeface="Yu Gothic"/>
              </a:defRPr>
            </a:pPr>
            <a:r>
              <a:rPr sz="1950" b="1">
                <a:solidFill>
                  <a:srgbClr val="916125"/>
                </a:solidFill>
                <a:latin typeface="Yu Gothic"/>
                <a:ea typeface="Yu Gothic"/>
                <a:cs typeface="Yu Gothic"/>
              </a:rPr>
              <a:t>SOAPサービス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4BA189-88F6-47CD-B276-FB1FAE371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1895475"/>
            <a:ext cx="4000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916125"/>
            </a:solidFill>
          </a:ln>
        </p:spPr>
        <p:txBody>
          <a:bodyPr xmlns:a="http://schemas.openxmlformats.org/drawingml/2006/main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916125"/>
                </a:solidFill>
                <a:latin typeface="Yu Gothic"/>
                <a:ea typeface="Yu Gothic"/>
                <a:cs typeface="Yu Gothic"/>
              </a:defRPr>
            </a:pPr>
            <a:r>
              <a:rPr sz="1950" b="1">
                <a:solidFill>
                  <a:srgbClr val="916125"/>
                </a:solidFill>
                <a:latin typeface="Yu Gothic"/>
                <a:ea typeface="Yu Gothic"/>
                <a:cs typeface="Yu Gothic"/>
              </a:rPr>
              <a:t>Envelope</a:t>
            </a:r>
          </a:p>
          <a:p xmlns:a="http://schemas.openxmlformats.org/drawingml/2006/main">
            <a:pPr algn="ctr">
              <a:defRPr sz="1950" b="1">
                <a:solidFill>
                  <a:srgbClr val="916125"/>
                </a:solidFill>
                <a:latin typeface="Yu Gothic"/>
                <a:ea typeface="Yu Gothic"/>
                <a:cs typeface="Yu Gothic"/>
              </a:defRPr>
            </a:pPr>
            <a:r>
              <a:rPr sz="1950" b="1">
                <a:solidFill>
                  <a:srgbClr val="916125"/>
                </a:solidFill>
                <a:latin typeface="Yu Gothic"/>
                <a:ea typeface="Yu Gothic"/>
                <a:cs typeface="Yu Gothic"/>
              </a:rPr>
              <a:t>Header（任意）</a:t>
            </a:r>
          </a:p>
          <a:p xmlns:a="http://schemas.openxmlformats.org/drawingml/2006/main">
            <a:pPr algn="ctr">
              <a:defRPr sz="1950" b="1">
                <a:solidFill>
                  <a:srgbClr val="916125"/>
                </a:solidFill>
                <a:latin typeface="Yu Gothic"/>
                <a:ea typeface="Yu Gothic"/>
                <a:cs typeface="Yu Gothic"/>
              </a:defRPr>
            </a:pPr>
            <a:r>
              <a:rPr sz="1950" b="1">
                <a:solidFill>
                  <a:srgbClr val="916125"/>
                </a:solidFill>
                <a:latin typeface="Yu Gothic"/>
                <a:ea typeface="Yu Gothic"/>
                <a:cs typeface="Yu Gothic"/>
              </a:rPr>
              <a:t>Body（要求・応答／Fault）</a:t>
            </a:r>
          </a:p>
        </p:txBody>
      </p:sp>
      <p:cxnSp>
        <p:nvCxnSpPr>
          <p:cNvPr id="20" name=""/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667000" y="2895600"/>
            <a:ext cx="12954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916125"/>
            </a:solidFill>
            <a:headEnd type="triangle" w="med" len="med"/>
            <a:tailEnd type="triangle" w="med" len="med"/>
          </a:ln>
        </p:spPr>
      </p:cxnSp>
      <p:cxnSp>
        <p:nvCxnSpPr>
          <p:cNvPr id="21" name=""/>
          <p:cNvCxnSpPr>
            <a:stCxn xmlns:a="http://schemas.openxmlformats.org/drawingml/2006/main" id="6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7962900" y="2895600"/>
            <a:ext cx="12287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916125"/>
            </a:solidFill>
            <a:headEnd type="triangle" w="med" len="med"/>
            <a:tailEnd type="triangle" w="med" len="me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8006E4-E529-4250-9294-B36B558EC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114800"/>
            <a:ext cx="381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526575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526575"/>
                </a:solidFill>
                <a:latin typeface="Yu Gothic"/>
                <a:ea typeface="Yu Gothic"/>
                <a:cs typeface="Yu Gothic"/>
              </a:rPr>
              <a:t>HTTP(S)などの通信路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45B1D4-9B08-4FF0-9595-73F306901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86300"/>
            <a:ext cx="523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916125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916125"/>
                </a:solidFill>
                <a:latin typeface="Yu Gothic"/>
                <a:ea typeface="Yu Gothic"/>
                <a:cs typeface="Yu Gothic"/>
              </a:rPr>
              <a:t>契約を共有する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DB9463-351C-4E47-83A8-49B5857F7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91125"/>
            <a:ext cx="5238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2A3A"/>
                </a:solidFill>
                <a:latin typeface="Yu Gothic"/>
                <a:ea typeface="Yu Gothic"/>
                <a:cs typeface="Yu Gothic"/>
              </a:defRPr>
            </a:pPr>
            <a:r>
              <a:rPr sz="1950" b="0">
                <a:solidFill>
                  <a:srgbClr val="172A3A"/>
                </a:solidFill>
                <a:latin typeface="Yu Gothic"/>
                <a:ea typeface="Yu Gothic"/>
                <a:cs typeface="Yu Gothic"/>
              </a:rPr>
              <a:t>WSDLで操作や型を記述し、</a:t>
            </a:r>
          </a:p>
          <a:p xmlns:a="http://schemas.openxmlformats.org/drawingml/2006/main">
            <a:pPr algn="l">
              <a:defRPr sz="1950" b="0">
                <a:solidFill>
                  <a:srgbClr val="172A3A"/>
                </a:solidFill>
                <a:latin typeface="Yu Gothic"/>
                <a:ea typeface="Yu Gothic"/>
                <a:cs typeface="Yu Gothic"/>
              </a:defRPr>
            </a:pPr>
            <a:r>
              <a:rPr sz="1950" b="0">
                <a:solidFill>
                  <a:srgbClr val="172A3A"/>
                </a:solidFill>
                <a:latin typeface="Yu Gothic"/>
                <a:ea typeface="Yu Gothic"/>
                <a:cs typeface="Yu Gothic"/>
              </a:rPr>
              <a:t>双方でインターフェースを共有。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FE7380-383A-40F0-A489-D7BBAEBE6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686300"/>
            <a:ext cx="5162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916125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916125"/>
                </a:solidFill>
                <a:latin typeface="Yu Gothic"/>
                <a:ea typeface="Yu Gothic"/>
                <a:cs typeface="Yu Gothic"/>
              </a:rPr>
              <a:t>拡張を組み合わせる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B18AED-91E4-4FAE-81DE-4427311BE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191125"/>
            <a:ext cx="51625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2A3A"/>
                </a:solidFill>
                <a:latin typeface="Yu Gothic"/>
                <a:ea typeface="Yu Gothic"/>
                <a:cs typeface="Yu Gothic"/>
              </a:defRPr>
            </a:pPr>
            <a:r>
              <a:rPr sz="1950" b="0">
                <a:solidFill>
                  <a:srgbClr val="172A3A"/>
                </a:solidFill>
                <a:latin typeface="Yu Gothic"/>
                <a:ea typeface="Yu Gothic"/>
                <a:cs typeface="Yu Gothic"/>
              </a:rPr>
              <a:t>WS-*でセキュリティや信頼性を補う。</a:t>
            </a:r>
          </a:p>
          <a:p xmlns:a="http://schemas.openxmlformats.org/drawingml/2006/main">
            <a:pPr algn="l">
              <a:defRPr sz="1950" b="0">
                <a:solidFill>
                  <a:srgbClr val="172A3A"/>
                </a:solidFill>
                <a:latin typeface="Yu Gothic"/>
                <a:ea typeface="Yu Gothic"/>
                <a:cs typeface="Yu Gothic"/>
              </a:defRPr>
            </a:pPr>
            <a:r>
              <a:rPr sz="1950" b="0">
                <a:solidFill>
                  <a:srgbClr val="172A3A"/>
                </a:solidFill>
                <a:latin typeface="Yu Gothic"/>
                <a:ea typeface="Yu Gothic"/>
                <a:cs typeface="Yu Gothic"/>
              </a:rPr>
              <a:t>SOAP本体だけで配送を保証しない。</a:t>
            </a:r>
          </a:p>
        </p:txBody>
      </p:sp>
    </p:spTree>
    <p:extLst>
      <p:ext uri="{BB962C8B-B14F-4D97-AF65-F5344CB8AC3E}">
        <p14:creationId xmlns:p14="http://schemas.microsoft.com/office/powerpoint/2010/main" val="182751784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8B6255-2788-4802-93E3-E742F3331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2A3A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72A3A"/>
                </a:solidFill>
                <a:latin typeface="Yu Gothic"/>
                <a:ea typeface="Yu Gothic"/>
                <a:cs typeface="Yu Gothic"/>
              </a:rPr>
              <a:t>GraphQL：必要なフィールドを指定する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D9701D-52C4-49D0-841D-A4909DA34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52525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6575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526575"/>
                </a:solidFill>
                <a:latin typeface="Yu Gothic"/>
                <a:ea typeface="Yu Gothic"/>
                <a:cs typeface="Yu Gothic"/>
              </a:rPr>
              <a:t>動画 4:40–6:11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4AFD59-3D2B-443D-8BF8-997BD2C8B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055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26575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526575"/>
                </a:solidFill>
                <a:latin typeface="Yu Gothic"/>
                <a:ea typeface="Yu Gothic"/>
                <a:cs typeface="Yu Gothic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033958-91C0-482C-B8FA-ECA86DE20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2190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12F79"/>
            </a:solidFill>
          </a:ln>
        </p:spPr>
        <p:txBody>
          <a:bodyPr xmlns:a="http://schemas.openxmlformats.org/drawingml/2006/main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A12F79"/>
                </a:solidFill>
                <a:latin typeface="Yu Gothic"/>
                <a:ea typeface="Yu Gothic"/>
                <a:cs typeface="Yu Gothic"/>
              </a:defRPr>
            </a:pPr>
            <a:r>
              <a:rPr sz="1950" b="1">
                <a:solidFill>
                  <a:srgbClr val="A12F79"/>
                </a:solidFill>
                <a:latin typeface="Yu Gothic"/>
                <a:ea typeface="Yu Gothic"/>
                <a:cs typeface="Yu Gothic"/>
              </a:rPr>
              <a:t>クライアント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341920-E797-4BF6-871B-B95BAF9C5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552700"/>
            <a:ext cx="27813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12F79"/>
            </a:solidFill>
          </a:ln>
        </p:spPr>
        <p:txBody>
          <a:bodyPr xmlns:a="http://schemas.openxmlformats.org/drawingml/2006/main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A12F79"/>
                </a:solidFill>
                <a:latin typeface="Yu Gothic"/>
                <a:ea typeface="Yu Gothic"/>
                <a:cs typeface="Yu Gothic"/>
              </a:defRPr>
            </a:pPr>
            <a:r>
              <a:rPr sz="1950" b="1">
                <a:solidFill>
                  <a:srgbClr val="A12F79"/>
                </a:solidFill>
                <a:latin typeface="Yu Gothic"/>
                <a:ea typeface="Yu Gothic"/>
                <a:cs typeface="Yu Gothic"/>
              </a:rPr>
              <a:t>GraphQL</a:t>
            </a:r>
          </a:p>
          <a:p xmlns:a="http://schemas.openxmlformats.org/drawingml/2006/main">
            <a:pPr algn="ctr">
              <a:defRPr sz="1950" b="1">
                <a:solidFill>
                  <a:srgbClr val="A12F79"/>
                </a:solidFill>
                <a:latin typeface="Yu Gothic"/>
                <a:ea typeface="Yu Gothic"/>
                <a:cs typeface="Yu Gothic"/>
              </a:defRPr>
            </a:pPr>
            <a:r>
              <a:rPr sz="1950" b="1">
                <a:solidFill>
                  <a:srgbClr val="A12F79"/>
                </a:solidFill>
                <a:latin typeface="Yu Gothic"/>
                <a:ea typeface="Yu Gothic"/>
                <a:cs typeface="Yu Gothic"/>
              </a:rPr>
              <a:t>スキーマ・Resolver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F3D524-7648-41B3-82AA-FC2C249E8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552700"/>
            <a:ext cx="20193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12F79"/>
            </a:solidFill>
          </a:ln>
        </p:spPr>
        <p:txBody>
          <a:bodyPr xmlns:a="http://schemas.openxmlformats.org/drawingml/2006/main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A12F79"/>
                </a:solidFill>
                <a:latin typeface="Yu Gothic"/>
                <a:ea typeface="Yu Gothic"/>
                <a:cs typeface="Yu Gothic"/>
              </a:defRPr>
            </a:pPr>
            <a:r>
              <a:rPr sz="1950" b="1">
                <a:solidFill>
                  <a:srgbClr val="A12F79"/>
                </a:solidFill>
                <a:latin typeface="Yu Gothic"/>
                <a:ea typeface="Yu Gothic"/>
                <a:cs typeface="Yu Gothic"/>
              </a:rPr>
              <a:t>DB／既存API</a:t>
            </a:r>
          </a:p>
        </p:txBody>
      </p:sp>
      <p:cxnSp>
        <p:nvCxnSpPr>
          <p:cNvPr id="21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876550" y="3076575"/>
            <a:ext cx="28956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A12F79"/>
            </a:solidFill>
            <a:headEnd type="triangle" w="med" len="med"/>
            <a:tailEnd type="triangle" w="med" len="med"/>
          </a:ln>
        </p:spPr>
      </p:cxnSp>
      <p:cxnSp>
        <p:nvCxnSpPr>
          <p:cNvPr id="22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8553450" y="3076575"/>
            <a:ext cx="9715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A12F79"/>
            </a:solidFill>
            <a:headEnd type="triangle" w="med" len="med"/>
            <a:tailEnd type="triangle" w="med" len="me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B06624-E6B6-4C55-9354-FDAE2D4C1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733550"/>
            <a:ext cx="390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A12F79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A12F79"/>
                </a:solidFill>
                <a:latin typeface="Yu Gothic"/>
                <a:ea typeface="Yu Gothic"/>
                <a:cs typeface="Yu Gothic"/>
              </a:rPr>
              <a:t>query { user(id: "123")</a:t>
            </a:r>
          </a:p>
          <a:p xmlns:a="http://schemas.openxmlformats.org/drawingml/2006/main">
            <a:pPr algn="l">
              <a:defRPr sz="1725" b="1">
                <a:solidFill>
                  <a:srgbClr val="A12F79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A12F79"/>
                </a:solidFill>
                <a:latin typeface="Yu Gothic"/>
                <a:ea typeface="Yu Gothic"/>
                <a:cs typeface="Yu Gothic"/>
              </a:rPr>
              <a:t>  { name email } }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495A16-228C-4ECE-8E7D-6DAA9A172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781425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26575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526575"/>
                </a:solidFill>
                <a:latin typeface="Yu Gothic"/>
                <a:ea typeface="Yu Gothic"/>
                <a:cs typeface="Yu Gothic"/>
              </a:rPr>
              <a:t>指定した構造の応答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748291-1916-4C10-AD95-7102E768B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38675"/>
            <a:ext cx="5095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A12F79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A12F79"/>
                </a:solidFill>
                <a:latin typeface="Yu Gothic"/>
                <a:ea typeface="Yu Gothic"/>
                <a:cs typeface="Yu Gothic"/>
              </a:rPr>
              <a:t>データ取得を柔軟にする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8E0221-5F09-4B7C-B5F0-B05B0F314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0"/>
            <a:ext cx="509587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2A3A"/>
                </a:solidFill>
                <a:latin typeface="Yu Gothic"/>
                <a:ea typeface="Yu Gothic"/>
                <a:cs typeface="Yu Gothic"/>
              </a:defRPr>
            </a:pPr>
            <a:r>
              <a:rPr sz="1950" b="0">
                <a:solidFill>
                  <a:srgbClr val="172A3A"/>
                </a:solidFill>
                <a:latin typeface="Yu Gothic"/>
                <a:ea typeface="Yu Gothic"/>
                <a:cs typeface="Yu Gothic"/>
              </a:rPr>
              <a:t>画面が必要な項目を選び、</a:t>
            </a:r>
          </a:p>
          <a:p xmlns:a="http://schemas.openxmlformats.org/drawingml/2006/main">
            <a:pPr algn="l">
              <a:defRPr sz="1950" b="0">
                <a:solidFill>
                  <a:srgbClr val="172A3A"/>
                </a:solidFill>
                <a:latin typeface="Yu Gothic"/>
                <a:ea typeface="Yu Gothic"/>
                <a:cs typeface="Yu Gothic"/>
              </a:defRPr>
            </a:pPr>
            <a:r>
              <a:rPr sz="1950" b="0">
                <a:solidFill>
                  <a:srgbClr val="172A3A"/>
                </a:solidFill>
                <a:latin typeface="Yu Gothic"/>
                <a:ea typeface="Yu Gothic"/>
                <a:cs typeface="Yu Gothic"/>
              </a:rPr>
              <a:t>関連データもまとめて要求できる。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045BAF-9267-44D9-9D15-05427FB73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638675"/>
            <a:ext cx="5162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A12F79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A12F79"/>
                </a:solidFill>
                <a:latin typeface="Yu Gothic"/>
                <a:ea typeface="Yu Gothic"/>
                <a:cs typeface="Yu Gothic"/>
              </a:rPr>
              <a:t>サーバー側の設計も必要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AFE70C-E7CB-492E-A3E2-5DEAB8EF7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143500"/>
            <a:ext cx="51625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2A3A"/>
                </a:solidFill>
                <a:latin typeface="Yu Gothic"/>
                <a:ea typeface="Yu Gothic"/>
                <a:cs typeface="Yu Gothic"/>
              </a:defRPr>
            </a:pPr>
            <a:r>
              <a:rPr sz="1950" b="0">
                <a:solidFill>
                  <a:srgbClr val="172A3A"/>
                </a:solidFill>
                <a:latin typeface="Yu Gothic"/>
                <a:ea typeface="Yu Gothic"/>
                <a:cs typeface="Yu Gothic"/>
              </a:rPr>
              <a:t>1回の要求でも内部処理は複数。</a:t>
            </a:r>
          </a:p>
          <a:p xmlns:a="http://schemas.openxmlformats.org/drawingml/2006/main">
            <a:pPr algn="l">
              <a:defRPr sz="1950" b="0">
                <a:solidFill>
                  <a:srgbClr val="172A3A"/>
                </a:solidFill>
                <a:latin typeface="Yu Gothic"/>
                <a:ea typeface="Yu Gothic"/>
                <a:cs typeface="Yu Gothic"/>
              </a:defRPr>
            </a:pPr>
            <a:r>
              <a:rPr sz="1950" b="0">
                <a:solidFill>
                  <a:srgbClr val="172A3A"/>
                </a:solidFill>
                <a:latin typeface="Yu Gothic"/>
                <a:ea typeface="Yu Gothic"/>
                <a:cs typeface="Yu Gothic"/>
              </a:rPr>
              <a:t>N+1対策やクエリ負荷制御が必要。</a:t>
            </a:r>
          </a:p>
        </p:txBody>
      </p:sp>
    </p:spTree>
    <p:extLst>
      <p:ext uri="{BB962C8B-B14F-4D97-AF65-F5344CB8AC3E}">
        <p14:creationId xmlns:p14="http://schemas.microsoft.com/office/powerpoint/2010/main" val="184693015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0B428C-89DE-4C3D-B1D3-F8D130AB5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2A3A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72A3A"/>
                </a:solidFill>
                <a:latin typeface="Yu Gothic"/>
                <a:ea typeface="Yu Gothic"/>
                <a:cs typeface="Yu Gothic"/>
              </a:rPr>
              <a:t>gRPC：型付きの遠隔メソッドを呼び出す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EE0846-6A5E-4EB1-9121-40170FFAD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52525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6575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526575"/>
                </a:solidFill>
                <a:latin typeface="Yu Gothic"/>
                <a:ea typeface="Yu Gothic"/>
                <a:cs typeface="Yu Gothic"/>
              </a:rPr>
              <a:t>動画 2:49–4:40、11:16–12:23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ED885A-2F18-4FE9-86FF-70D5C987A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055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26575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526575"/>
                </a:solidFill>
                <a:latin typeface="Yu Gothic"/>
                <a:ea typeface="Yu Gothic"/>
                <a:cs typeface="Yu Gothic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8951CB-16AD-475C-A6F5-FCDAA2C8D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828800"/>
            <a:ext cx="666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87F78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087F78"/>
                </a:solidFill>
                <a:latin typeface="Yu Gothic"/>
                <a:ea typeface="Yu Gothic"/>
                <a:cs typeface="Yu Gothic"/>
              </a:rPr>
              <a:t>.proto にサービスとメッセージ型を定義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0B388E-87D5-4D52-ABF1-43174536E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57500"/>
            <a:ext cx="26860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87F78"/>
            </a:solidFill>
          </a:ln>
        </p:spPr>
        <p:txBody>
          <a:bodyPr xmlns:a="http://schemas.openxmlformats.org/drawingml/2006/main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87F78"/>
                </a:solidFill>
                <a:latin typeface="Yu Gothic"/>
                <a:ea typeface="Yu Gothic"/>
                <a:cs typeface="Yu Gothic"/>
              </a:defRPr>
            </a:pPr>
            <a:r>
              <a:rPr sz="1950" b="1">
                <a:solidFill>
                  <a:srgbClr val="087F78"/>
                </a:solidFill>
                <a:latin typeface="Yu Gothic"/>
                <a:ea typeface="Yu Gothic"/>
                <a:cs typeface="Yu Gothic"/>
              </a:rPr>
              <a:t>クライアント</a:t>
            </a:r>
          </a:p>
          <a:p xmlns:a="http://schemas.openxmlformats.org/drawingml/2006/main">
            <a:pPr algn="ctr">
              <a:defRPr sz="1950" b="1">
                <a:solidFill>
                  <a:srgbClr val="087F78"/>
                </a:solidFill>
                <a:latin typeface="Yu Gothic"/>
                <a:ea typeface="Yu Gothic"/>
                <a:cs typeface="Yu Gothic"/>
              </a:defRPr>
            </a:pPr>
            <a:r>
              <a:rPr sz="1950" b="1">
                <a:solidFill>
                  <a:srgbClr val="087F78"/>
                </a:solidFill>
                <a:latin typeface="Yu Gothic"/>
                <a:ea typeface="Yu Gothic"/>
                <a:cs typeface="Yu Gothic"/>
              </a:rPr>
              <a:t>生成スタブ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FC82AF-0115-448C-A9E3-08CE04973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857500"/>
            <a:ext cx="26860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87F78"/>
            </a:solidFill>
          </a:ln>
        </p:spPr>
        <p:txBody>
          <a:bodyPr xmlns:a="http://schemas.openxmlformats.org/drawingml/2006/main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87F78"/>
                </a:solidFill>
                <a:latin typeface="Yu Gothic"/>
                <a:ea typeface="Yu Gothic"/>
                <a:cs typeface="Yu Gothic"/>
              </a:defRPr>
            </a:pPr>
            <a:r>
              <a:rPr sz="1950" b="1">
                <a:solidFill>
                  <a:srgbClr val="087F78"/>
                </a:solidFill>
                <a:latin typeface="Yu Gothic"/>
                <a:ea typeface="Yu Gothic"/>
                <a:cs typeface="Yu Gothic"/>
              </a:rPr>
              <a:t>gRPCサーバー</a:t>
            </a:r>
          </a:p>
          <a:p xmlns:a="http://schemas.openxmlformats.org/drawingml/2006/main">
            <a:pPr algn="ctr">
              <a:defRPr sz="1950" b="1">
                <a:solidFill>
                  <a:srgbClr val="087F78"/>
                </a:solidFill>
                <a:latin typeface="Yu Gothic"/>
                <a:ea typeface="Yu Gothic"/>
                <a:cs typeface="Yu Gothic"/>
              </a:defRPr>
            </a:pPr>
            <a:r>
              <a:rPr sz="1950" b="1">
                <a:solidFill>
                  <a:srgbClr val="087F78"/>
                </a:solidFill>
                <a:latin typeface="Yu Gothic"/>
                <a:ea typeface="Yu Gothic"/>
                <a:cs typeface="Yu Gothic"/>
              </a:rPr>
              <a:t>メソッド実装</a:t>
            </a:r>
          </a:p>
        </p:txBody>
      </p:sp>
      <p:cxnSp>
        <p:nvCxnSpPr>
          <p:cNvPr id="20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467100" y="3476625"/>
            <a:ext cx="52578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87F78"/>
            </a:solidFill>
            <a:headEnd type="triangle" w="med" len="med"/>
            <a:tailEnd type="triangle" w="med" len="me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C22DB2-C8DB-401A-9865-6C47F32D4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800350"/>
            <a:ext cx="4610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87F78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087F78"/>
                </a:solidFill>
                <a:latin typeface="Yu Gothic"/>
                <a:ea typeface="Yu Gothic"/>
                <a:cs typeface="Yu Gothic"/>
              </a:rPr>
              <a:t>GetUser(UserRequest)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799794-4052-4DE2-B902-731CDEE66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2100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526575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526575"/>
                </a:solidFill>
                <a:latin typeface="Yu Gothic"/>
                <a:ea typeface="Yu Gothic"/>
                <a:cs typeface="Yu Gothic"/>
              </a:rPr>
              <a:t>通常は Protobuf + HTTP/2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E4C62D-5A46-47E1-BF1E-D831ADCF6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86325"/>
            <a:ext cx="51720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87F78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087F78"/>
                </a:solidFill>
                <a:latin typeface="Yu Gothic"/>
                <a:ea typeface="Yu Gothic"/>
                <a:cs typeface="Yu Gothic"/>
              </a:rPr>
              <a:t>効率的なシリアライズ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4E07A4-FFBF-4446-B206-80B87DED0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91150"/>
            <a:ext cx="517207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2A3A"/>
                </a:solidFill>
                <a:latin typeface="Yu Gothic"/>
                <a:ea typeface="Yu Gothic"/>
                <a:cs typeface="Yu Gothic"/>
              </a:defRPr>
            </a:pPr>
            <a:r>
              <a:rPr sz="1950" b="0">
                <a:solidFill>
                  <a:srgbClr val="172A3A"/>
                </a:solidFill>
                <a:latin typeface="Yu Gothic"/>
                <a:ea typeface="Yu Gothic"/>
                <a:cs typeface="Yu Gothic"/>
              </a:rPr>
              <a:t>バイナリ形式とコード生成を活用。</a:t>
            </a:r>
          </a:p>
          <a:p xmlns:a="http://schemas.openxmlformats.org/drawingml/2006/main">
            <a:pPr algn="l">
              <a:defRPr sz="1950" b="0">
                <a:solidFill>
                  <a:srgbClr val="172A3A"/>
                </a:solidFill>
                <a:latin typeface="Yu Gothic"/>
                <a:ea typeface="Yu Gothic"/>
                <a:cs typeface="Yu Gothic"/>
              </a:defRPr>
            </a:pPr>
            <a:r>
              <a:rPr sz="1950" b="0">
                <a:solidFill>
                  <a:srgbClr val="172A3A"/>
                </a:solidFill>
                <a:latin typeface="Yu Gothic"/>
                <a:ea typeface="Yu Gothic"/>
                <a:cs typeface="Yu Gothic"/>
              </a:rPr>
              <a:t>多言語のサービス間通信に向く。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D06AD9-8C60-4BC9-B2C8-B7FC79593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886325"/>
            <a:ext cx="5162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87F78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087F78"/>
                </a:solidFill>
                <a:latin typeface="Yu Gothic"/>
                <a:ea typeface="Yu Gothic"/>
                <a:cs typeface="Yu Gothic"/>
              </a:rPr>
              <a:t>ネットワーク境界は残る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7DA98E-D891-42B8-A2E6-CE948771A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391150"/>
            <a:ext cx="51625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2A3A"/>
                </a:solidFill>
                <a:latin typeface="Yu Gothic"/>
                <a:ea typeface="Yu Gothic"/>
                <a:cs typeface="Yu Gothic"/>
              </a:defRPr>
            </a:pPr>
            <a:r>
              <a:rPr sz="1950" b="0">
                <a:solidFill>
                  <a:srgbClr val="172A3A"/>
                </a:solidFill>
                <a:latin typeface="Yu Gothic"/>
                <a:ea typeface="Yu Gothic"/>
                <a:cs typeface="Yu Gothic"/>
              </a:rPr>
              <a:t>タイムアウト・再試行・障害処理を設計。</a:t>
            </a:r>
          </a:p>
          <a:p xmlns:a="http://schemas.openxmlformats.org/drawingml/2006/main">
            <a:pPr algn="l">
              <a:defRPr sz="1950" b="0">
                <a:solidFill>
                  <a:srgbClr val="172A3A"/>
                </a:solidFill>
                <a:latin typeface="Yu Gothic"/>
                <a:ea typeface="Yu Gothic"/>
                <a:cs typeface="Yu Gothic"/>
              </a:defRPr>
            </a:pPr>
            <a:r>
              <a:rPr sz="1950" b="0">
                <a:solidFill>
                  <a:srgbClr val="172A3A"/>
                </a:solidFill>
                <a:latin typeface="Yu Gothic"/>
                <a:ea typeface="Yu Gothic"/>
                <a:cs typeface="Yu Gothic"/>
              </a:rPr>
              <a:t>ブラウザーではgRPC-Web等を検討。</a:t>
            </a:r>
          </a:p>
        </p:txBody>
      </p:sp>
    </p:spTree>
    <p:extLst>
      <p:ext uri="{BB962C8B-B14F-4D97-AF65-F5344CB8AC3E}">
        <p14:creationId xmlns:p14="http://schemas.microsoft.com/office/powerpoint/2010/main" val="101994175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1BA164B-D0CE-4030-896B-365CCDBC2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2A3A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72A3A"/>
                </a:solidFill>
                <a:latin typeface="Yu Gothic"/>
                <a:ea typeface="Yu Gothic"/>
                <a:cs typeface="Yu Gothic"/>
              </a:rPr>
              <a:t>gRPCの4つの通信パターン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6FB6BF-DDD4-4165-A574-8A5C847CD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52525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6575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526575"/>
                </a:solidFill>
                <a:latin typeface="Yu Gothic"/>
                <a:ea typeface="Yu Gothic"/>
                <a:cs typeface="Yu Gothic"/>
              </a:rPr>
              <a:t>Unaryと3種類のStreamingを区別する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3AFDFA-6D3C-419C-8170-72F618AA3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055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26575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526575"/>
                </a:solidFill>
                <a:latin typeface="Yu Gothic"/>
                <a:ea typeface="Yu Gothic"/>
                <a:cs typeface="Yu Gothic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99EC34-AE13-494C-838D-2E3BE8B99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0502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87F78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087F78"/>
                </a:solidFill>
                <a:latin typeface="Yu Gothic"/>
                <a:ea typeface="Yu Gothic"/>
                <a:cs typeface="Yu Gothic"/>
              </a:rPr>
              <a:t>Unary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7F8B50-A0CF-4285-AB40-ED0D2DE04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895475"/>
            <a:ext cx="1428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87F78"/>
            </a:solidFill>
          </a:ln>
        </p:spPr>
        <p:txBody>
          <a:bodyPr xmlns:a="http://schemas.openxmlformats.org/drawingml/2006/main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87F78"/>
                </a:solidFill>
                <a:latin typeface="Yu Gothic"/>
                <a:ea typeface="Yu Gothic"/>
                <a:cs typeface="Yu Gothic"/>
              </a:defRPr>
            </a:pPr>
            <a:r>
              <a:rPr sz="1950" b="1">
                <a:solidFill>
                  <a:srgbClr val="087F78"/>
                </a:solidFill>
                <a:latin typeface="Yu Gothic"/>
                <a:ea typeface="Yu Gothic"/>
                <a:cs typeface="Yu Gothic"/>
              </a:rPr>
              <a:t>Client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DCC8F3-8609-4005-9965-C2B9D60A1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895475"/>
            <a:ext cx="1428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87F78"/>
            </a:solidFill>
          </a:ln>
        </p:spPr>
        <p:txBody>
          <a:bodyPr xmlns:a="http://schemas.openxmlformats.org/drawingml/2006/main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87F78"/>
                </a:solidFill>
                <a:latin typeface="Yu Gothic"/>
                <a:ea typeface="Yu Gothic"/>
                <a:cs typeface="Yu Gothic"/>
              </a:defRPr>
            </a:pPr>
            <a:r>
              <a:rPr sz="1950" b="1">
                <a:solidFill>
                  <a:srgbClr val="087F78"/>
                </a:solidFill>
                <a:latin typeface="Yu Gothic"/>
                <a:ea typeface="Yu Gothic"/>
                <a:cs typeface="Yu Gothic"/>
              </a:rPr>
              <a:t>Server</a:t>
            </a:r>
          </a:p>
        </p:txBody>
      </p:sp>
      <p:cxnSp>
        <p:nvCxnSpPr>
          <p:cNvPr id="34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5181600" y="2247900"/>
            <a:ext cx="33337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87F78"/>
            </a:solidFill>
            <a:headEnd type="triangle" w="med" len="med"/>
            <a:tailEnd type="triangle" w="med" len="me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C8BED7-9FCD-4CB7-BEE2-6B27C8EB5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1885950"/>
            <a:ext cx="3124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26575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526575"/>
                </a:solidFill>
                <a:latin typeface="Yu Gothic"/>
                <a:ea typeface="Yu Gothic"/>
                <a:cs typeface="Yu Gothic"/>
              </a:rPr>
              <a:t>要求 1件 ／ 応答 1件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C89511-762B-4AC1-80BA-D3F6BAC67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41935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72A3A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172A3A"/>
                </a:solidFill>
                <a:latin typeface="Yu Gothic"/>
                <a:ea typeface="Yu Gothic"/>
                <a:cs typeface="Yu Gothic"/>
              </a:rPr>
              <a:t>ユーザーの取得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C3A294-50D9-41E9-A24E-101F87B61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3372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87F78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087F78"/>
                </a:solidFill>
                <a:latin typeface="Yu Gothic"/>
                <a:ea typeface="Yu Gothic"/>
                <a:cs typeface="Yu Gothic"/>
              </a:rPr>
              <a:t>Server streaming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7ECBE2-C6C4-4A94-92C9-B9FF1074B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924175"/>
            <a:ext cx="1428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87F78"/>
            </a:solidFill>
          </a:ln>
        </p:spPr>
        <p:txBody>
          <a:bodyPr xmlns:a="http://schemas.openxmlformats.org/drawingml/2006/main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87F78"/>
                </a:solidFill>
                <a:latin typeface="Yu Gothic"/>
                <a:ea typeface="Yu Gothic"/>
                <a:cs typeface="Yu Gothic"/>
              </a:defRPr>
            </a:pPr>
            <a:r>
              <a:rPr sz="1950" b="1">
                <a:solidFill>
                  <a:srgbClr val="087F78"/>
                </a:solidFill>
                <a:latin typeface="Yu Gothic"/>
                <a:ea typeface="Yu Gothic"/>
                <a:cs typeface="Yu Gothic"/>
              </a:rPr>
              <a:t>Client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B746EB-76B8-4AA7-8AFF-6DA66CA24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924175"/>
            <a:ext cx="1428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87F78"/>
            </a:solidFill>
          </a:ln>
        </p:spPr>
        <p:txBody>
          <a:bodyPr xmlns:a="http://schemas.openxmlformats.org/drawingml/2006/main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87F78"/>
                </a:solidFill>
                <a:latin typeface="Yu Gothic"/>
                <a:ea typeface="Yu Gothic"/>
                <a:cs typeface="Yu Gothic"/>
              </a:defRPr>
            </a:pPr>
            <a:r>
              <a:rPr sz="1950" b="1">
                <a:solidFill>
                  <a:srgbClr val="087F78"/>
                </a:solidFill>
                <a:latin typeface="Yu Gothic"/>
                <a:ea typeface="Yu Gothic"/>
                <a:cs typeface="Yu Gothic"/>
              </a:rPr>
              <a:t>Server</a:t>
            </a:r>
          </a:p>
        </p:txBody>
      </p:sp>
      <p:cxnSp>
        <p:nvCxnSpPr>
          <p:cNvPr id="40" name=""/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5181600" y="3276600"/>
            <a:ext cx="33337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87F78"/>
            </a:solidFill>
            <a:headEnd type="triangle" w="med" len="med"/>
            <a:tailEnd type="triangle" w="med" len="me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49E8F3-4536-4021-891C-915062041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2914650"/>
            <a:ext cx="3124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26575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526575"/>
                </a:solidFill>
                <a:latin typeface="Yu Gothic"/>
                <a:ea typeface="Yu Gothic"/>
                <a:cs typeface="Yu Gothic"/>
              </a:rPr>
              <a:t>要求 1件 ／ 応答 複数件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04C57C-7908-468A-98E1-72CB0B5D5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44805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72A3A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172A3A"/>
                </a:solidFill>
                <a:latin typeface="Yu Gothic"/>
                <a:ea typeface="Yu Gothic"/>
                <a:cs typeface="Yu Gothic"/>
              </a:rPr>
              <a:t>更新情報の配信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A8D57C-0D3D-4F76-8CDC-2FD65C4B8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6242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87F78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087F78"/>
                </a:solidFill>
                <a:latin typeface="Yu Gothic"/>
                <a:ea typeface="Yu Gothic"/>
                <a:cs typeface="Yu Gothic"/>
              </a:rPr>
              <a:t>Client streaming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45C54C-EB07-4F44-A260-067DD810A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952875"/>
            <a:ext cx="1428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87F78"/>
            </a:solidFill>
          </a:ln>
        </p:spPr>
        <p:txBody>
          <a:bodyPr xmlns:a="http://schemas.openxmlformats.org/drawingml/2006/main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87F78"/>
                </a:solidFill>
                <a:latin typeface="Yu Gothic"/>
                <a:ea typeface="Yu Gothic"/>
                <a:cs typeface="Yu Gothic"/>
              </a:defRPr>
            </a:pPr>
            <a:r>
              <a:rPr sz="1950" b="1">
                <a:solidFill>
                  <a:srgbClr val="087F78"/>
                </a:solidFill>
                <a:latin typeface="Yu Gothic"/>
                <a:ea typeface="Yu Gothic"/>
                <a:cs typeface="Yu Gothic"/>
              </a:rPr>
              <a:t>Client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518119-63B3-4BB3-83D1-D8053A8D0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952875"/>
            <a:ext cx="1428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87F78"/>
            </a:solidFill>
          </a:ln>
        </p:spPr>
        <p:txBody>
          <a:bodyPr xmlns:a="http://schemas.openxmlformats.org/drawingml/2006/main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87F78"/>
                </a:solidFill>
                <a:latin typeface="Yu Gothic"/>
                <a:ea typeface="Yu Gothic"/>
                <a:cs typeface="Yu Gothic"/>
              </a:defRPr>
            </a:pPr>
            <a:r>
              <a:rPr sz="1950" b="1">
                <a:solidFill>
                  <a:srgbClr val="087F78"/>
                </a:solidFill>
                <a:latin typeface="Yu Gothic"/>
                <a:ea typeface="Yu Gothic"/>
                <a:cs typeface="Yu Gothic"/>
              </a:rPr>
              <a:t>Server</a:t>
            </a:r>
          </a:p>
        </p:txBody>
      </p:sp>
      <p:cxnSp>
        <p:nvCxnSpPr>
          <p:cNvPr id="46" name=""/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5181600" y="4305300"/>
            <a:ext cx="33337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87F78"/>
            </a:solidFill>
            <a:headEnd type="triangle" w="med" len="med"/>
            <a:tailEnd type="triangle" w="med" len="me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F1F9E7-52EE-4B15-996D-773756945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3943350"/>
            <a:ext cx="3124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26575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526575"/>
                </a:solidFill>
                <a:latin typeface="Yu Gothic"/>
                <a:ea typeface="Yu Gothic"/>
                <a:cs typeface="Yu Gothic"/>
              </a:rPr>
              <a:t>要求 複数件 ／ 応答 1件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81C060-D33C-40C1-87D1-1FBA5E9E0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47675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72A3A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172A3A"/>
                </a:solidFill>
                <a:latin typeface="Yu Gothic"/>
                <a:ea typeface="Yu Gothic"/>
                <a:cs typeface="Yu Gothic"/>
              </a:rPr>
              <a:t>計測値の連続送信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3C4DF2-929D-464D-B91A-B0499DB33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9112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87F78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087F78"/>
                </a:solidFill>
                <a:latin typeface="Yu Gothic"/>
                <a:ea typeface="Yu Gothic"/>
                <a:cs typeface="Yu Gothic"/>
              </a:rPr>
              <a:t>Bidirectional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1DC8A9-4738-4BE3-98E8-74F704DE3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981575"/>
            <a:ext cx="1428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87F78"/>
            </a:solidFill>
          </a:ln>
        </p:spPr>
        <p:txBody>
          <a:bodyPr xmlns:a="http://schemas.openxmlformats.org/drawingml/2006/main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87F78"/>
                </a:solidFill>
                <a:latin typeface="Yu Gothic"/>
                <a:ea typeface="Yu Gothic"/>
                <a:cs typeface="Yu Gothic"/>
              </a:defRPr>
            </a:pPr>
            <a:r>
              <a:rPr sz="1950" b="1">
                <a:solidFill>
                  <a:srgbClr val="087F78"/>
                </a:solidFill>
                <a:latin typeface="Yu Gothic"/>
                <a:ea typeface="Yu Gothic"/>
                <a:cs typeface="Yu Gothic"/>
              </a:rPr>
              <a:t>Client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C27C435-8C7C-4672-9279-E95D6D45F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981575"/>
            <a:ext cx="1428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87F78"/>
            </a:solidFill>
          </a:ln>
        </p:spPr>
        <p:txBody>
          <a:bodyPr xmlns:a="http://schemas.openxmlformats.org/drawingml/2006/main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87F78"/>
                </a:solidFill>
                <a:latin typeface="Yu Gothic"/>
                <a:ea typeface="Yu Gothic"/>
                <a:cs typeface="Yu Gothic"/>
              </a:defRPr>
            </a:pPr>
            <a:r>
              <a:rPr sz="1950" b="1">
                <a:solidFill>
                  <a:srgbClr val="087F78"/>
                </a:solidFill>
                <a:latin typeface="Yu Gothic"/>
                <a:ea typeface="Yu Gothic"/>
                <a:cs typeface="Yu Gothic"/>
              </a:rPr>
              <a:t>Server</a:t>
            </a:r>
          </a:p>
        </p:txBody>
      </p:sp>
      <p:cxnSp>
        <p:nvCxnSpPr>
          <p:cNvPr id="52" name=""/>
          <p:cNvCxnSpPr>
            <a:stCxn xmlns:a="http://schemas.openxmlformats.org/drawingml/2006/main" id="23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5181600" y="5334000"/>
            <a:ext cx="33337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87F78"/>
            </a:solidFill>
            <a:headEnd type="triangle" w="med" len="med"/>
            <a:tailEnd type="triangle" w="med" len="med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3E67712-44A3-4D32-901D-1D43098E3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4972050"/>
            <a:ext cx="3124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26575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526575"/>
                </a:solidFill>
                <a:latin typeface="Yu Gothic"/>
                <a:ea typeface="Yu Gothic"/>
                <a:cs typeface="Yu Gothic"/>
              </a:rPr>
              <a:t>要求 複数件 ／ 応答 複数件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0236006-FDE0-4434-B677-674788076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50545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72A3A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172A3A"/>
                </a:solidFill>
                <a:latin typeface="Yu Gothic"/>
                <a:ea typeface="Yu Gothic"/>
                <a:cs typeface="Yu Gothic"/>
              </a:rPr>
              <a:t>対話型の連続処理</a:t>
            </a:r>
          </a:p>
        </p:txBody>
      </p:sp>
    </p:spTree>
    <p:extLst>
      <p:ext uri="{BB962C8B-B14F-4D97-AF65-F5344CB8AC3E}">
        <p14:creationId xmlns:p14="http://schemas.microsoft.com/office/powerpoint/2010/main" val="143448961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301A78-9D69-44A8-901D-A019CB491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2A3A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72A3A"/>
                </a:solidFill>
                <a:latin typeface="Yu Gothic"/>
                <a:ea typeface="Yu Gothic"/>
                <a:cs typeface="Yu Gothic"/>
              </a:rPr>
              <a:t>同じ「ユーザー取得」を4方式で表す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646FEA-D043-4D96-B3CA-7211E06E3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52525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6575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526575"/>
                </a:solidFill>
                <a:latin typeface="Yu Gothic"/>
                <a:ea typeface="Yu Gothic"/>
                <a:cs typeface="Yu Gothic"/>
              </a:rPr>
              <a:t>学習用の概念例。実際のURI・型・操作名はAPI設計によって変わる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FC0252-4E49-4717-857E-66671F080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055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26575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526575"/>
                </a:solidFill>
                <a:latin typeface="Yu Gothic"/>
                <a:ea typeface="Yu Gothic"/>
                <a:cs typeface="Yu Gothic"/>
              </a:rPr>
              <a:t>08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838325"/>
          <a:ext xmlns:a="http://schemas.openxmlformats.org/drawingml/2006/main" cx="10972800" cy="38004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62125"/>
                <a:gridCol w="5257800"/>
                <a:gridCol w="3952875"/>
              </a:tblGrid>
              <a:tr h="760095">
                <a:tc>
                  <a:txBody>
                    <a:bodyPr lIns="123825" tIns="95250" rIns="95250" bIns="9525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方式</a:t>
                      </a:r>
                    </a:p>
                  </a:txBody>
                  <a:tcPr marL="91440" marR="91440" marT="45720" marB="45720" anchor="ctr">
                    <a:solidFill>
                      <a:srgbClr val="172A3A"/>
                    </a:solidFill>
                  </a:tcPr>
                </a:tc>
                <a:tc>
                  <a:txBody>
                    <a:bodyPr lIns="123825" tIns="95250" rIns="95250" bIns="9525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要求の例</a:t>
                      </a:r>
                    </a:p>
                  </a:txBody>
                  <a:tcPr marL="91440" marR="91440" marT="45720" marB="45720" anchor="ctr">
                    <a:solidFill>
                      <a:srgbClr val="172A3A"/>
                    </a:solidFill>
                  </a:tcPr>
                </a:tc>
                <a:tc>
                  <a:txBody>
                    <a:bodyPr lIns="123825" tIns="95250" rIns="95250" bIns="9525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呼び出し側が指定するもの</a:t>
                      </a:r>
                    </a:p>
                  </a:txBody>
                  <a:tcPr marL="91440" marR="91440" marT="45720" marB="45720" anchor="ctr">
                    <a:solidFill>
                      <a:srgbClr val="172A3A"/>
                    </a:solidFill>
                  </a:tcPr>
                </a:tc>
              </a:tr>
              <a:tr h="760095">
                <a:tc>
                  <a:txBody>
                    <a:bodyPr lIns="123825" tIns="95250" rIns="95250" bIns="95250"/>
                    <a:lstStyle/>
                    <a:p>
                      <a:r>
                        <a:rPr sz="1800" b="1">
                          <a:solidFill>
                            <a:srgbClr val="172A3A"/>
                          </a:solidFill>
                          <a:latin typeface="Yu Gothic"/>
                          <a:ea typeface="Yu Gothic"/>
                          <a:cs typeface="Yu Gothic"/>
                        </a:rPr>
                        <a:t>REST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95250" rIns="95250" bIns="95250"/>
                    <a:lstStyle/>
                    <a:p>
                      <a:r>
                        <a:rPr sz="1800" b="0">
                          <a:solidFill>
                            <a:srgbClr val="172A3A"/>
                          </a:solidFill>
                          <a:latin typeface="Yu Gothic"/>
                          <a:ea typeface="Yu Gothic"/>
                          <a:cs typeface="Yu Gothic"/>
                        </a:rPr>
                        <a:t>GET /users/123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95250" rIns="95250" bIns="95250"/>
                    <a:lstStyle/>
                    <a:p>
                      <a:r>
                        <a:rPr sz="1800" b="0">
                          <a:solidFill>
                            <a:srgbClr val="172A3A"/>
                          </a:solidFill>
                          <a:latin typeface="Yu Gothic"/>
                          <a:ea typeface="Yu Gothic"/>
                          <a:cs typeface="Yu Gothic"/>
                        </a:rPr>
                        <a:t>対象リソースとHTTPメソッド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60095">
                <a:tc>
                  <a:txBody>
                    <a:bodyPr lIns="123825" tIns="95250" rIns="95250" bIns="95250"/>
                    <a:lstStyle/>
                    <a:p>
                      <a:r>
                        <a:rPr sz="1800" b="1">
                          <a:solidFill>
                            <a:srgbClr val="172A3A"/>
                          </a:solidFill>
                          <a:latin typeface="Yu Gothic"/>
                          <a:ea typeface="Yu Gothic"/>
                          <a:cs typeface="Yu Gothic"/>
                        </a:rPr>
                        <a:t>SOAP</a:t>
                      </a:r>
                    </a:p>
                  </a:txBody>
                  <a:tcPr marL="91440" marR="91440" marT="45720" marB="45720" anchor="ctr">
                    <a:solidFill>
                      <a:srgbClr val="EEF3F6"/>
                    </a:solidFill>
                  </a:tcPr>
                </a:tc>
                <a:tc>
                  <a:txBody>
                    <a:bodyPr lIns="123825" tIns="95250" rIns="95250" bIns="95250"/>
                    <a:lstStyle/>
                    <a:p>
                      <a:r>
                        <a:rPr sz="1800" b="0">
                          <a:solidFill>
                            <a:srgbClr val="172A3A"/>
                          </a:solidFill>
                          <a:latin typeface="Yu Gothic"/>
                          <a:ea typeface="Yu Gothic"/>
                          <a:cs typeface="Yu Gothic"/>
                        </a:rPr>
                        <a:t>Body内の GetUser 要素</a:t>
                      </a:r>
                    </a:p>
                    <a:p>
                      <a:r>
                        <a:rPr sz="1800" b="0">
                          <a:solidFill>
                            <a:srgbClr val="172A3A"/>
                          </a:solidFill>
                          <a:latin typeface="Yu Gothic"/>
                          <a:ea typeface="Yu Gothic"/>
                          <a:cs typeface="Yu Gothic"/>
                        </a:rPr>
                        <a:t>userId = 123</a:t>
                      </a:r>
                    </a:p>
                  </a:txBody>
                  <a:tcPr marL="91440" marR="91440" marT="45720" marB="45720" anchor="ctr">
                    <a:solidFill>
                      <a:srgbClr val="EEF3F6"/>
                    </a:solidFill>
                  </a:tcPr>
                </a:tc>
                <a:tc>
                  <a:txBody>
                    <a:bodyPr lIns="123825" tIns="95250" rIns="95250" bIns="95250"/>
                    <a:lstStyle/>
                    <a:p>
                      <a:r>
                        <a:rPr sz="1800" b="0">
                          <a:solidFill>
                            <a:srgbClr val="172A3A"/>
                          </a:solidFill>
                          <a:latin typeface="Yu Gothic"/>
                          <a:ea typeface="Yu Gothic"/>
                          <a:cs typeface="Yu Gothic"/>
                        </a:rPr>
                        <a:t>XMLの操作・入力データ</a:t>
                      </a:r>
                    </a:p>
                  </a:txBody>
                  <a:tcPr marL="91440" marR="91440" marT="45720" marB="45720" anchor="ctr">
                    <a:solidFill>
                      <a:srgbClr val="EEF3F6"/>
                    </a:solidFill>
                  </a:tcPr>
                </a:tc>
              </a:tr>
              <a:tr h="760095">
                <a:tc>
                  <a:txBody>
                    <a:bodyPr lIns="123825" tIns="95250" rIns="95250" bIns="95250"/>
                    <a:lstStyle/>
                    <a:p>
                      <a:r>
                        <a:rPr sz="1800" b="1">
                          <a:solidFill>
                            <a:srgbClr val="172A3A"/>
                          </a:solidFill>
                          <a:latin typeface="Yu Gothic"/>
                          <a:ea typeface="Yu Gothic"/>
                          <a:cs typeface="Yu Gothic"/>
                        </a:rPr>
                        <a:t>GraphQL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95250" rIns="95250" bIns="95250"/>
                    <a:lstStyle/>
                    <a:p>
                      <a:r>
                        <a:rPr sz="1800" b="0">
                          <a:solidFill>
                            <a:srgbClr val="172A3A"/>
                          </a:solidFill>
                          <a:latin typeface="Yu Gothic"/>
                          <a:ea typeface="Yu Gothic"/>
                          <a:cs typeface="Yu Gothic"/>
                        </a:rPr>
                        <a:t>user(id: "123") { name email }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95250" rIns="95250" bIns="95250"/>
                    <a:lstStyle/>
                    <a:p>
                      <a:r>
                        <a:rPr sz="1800" b="0">
                          <a:solidFill>
                            <a:srgbClr val="172A3A"/>
                          </a:solidFill>
                          <a:latin typeface="Yu Gothic"/>
                          <a:ea typeface="Yu Gothic"/>
                          <a:cs typeface="Yu Gothic"/>
                        </a:rPr>
                        <a:t>対象と取得したいフィールド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60095">
                <a:tc>
                  <a:txBody>
                    <a:bodyPr lIns="123825" tIns="95250" rIns="95250" bIns="95250"/>
                    <a:lstStyle/>
                    <a:p>
                      <a:r>
                        <a:rPr sz="1800" b="1">
                          <a:solidFill>
                            <a:srgbClr val="172A3A"/>
                          </a:solidFill>
                          <a:latin typeface="Yu Gothic"/>
                          <a:ea typeface="Yu Gothic"/>
                          <a:cs typeface="Yu Gothic"/>
                        </a:rPr>
                        <a:t>gRPC</a:t>
                      </a:r>
                    </a:p>
                  </a:txBody>
                  <a:tcPr marL="91440" marR="91440" marT="45720" marB="45720" anchor="ctr">
                    <a:solidFill>
                      <a:srgbClr val="EEF3F6"/>
                    </a:solidFill>
                  </a:tcPr>
                </a:tc>
                <a:tc>
                  <a:txBody>
                    <a:bodyPr lIns="123825" tIns="95250" rIns="95250" bIns="95250"/>
                    <a:lstStyle/>
                    <a:p>
                      <a:r>
                        <a:rPr sz="1800" b="0">
                          <a:solidFill>
                            <a:srgbClr val="172A3A"/>
                          </a:solidFill>
                          <a:latin typeface="Yu Gothic"/>
                          <a:ea typeface="Yu Gothic"/>
                          <a:cs typeface="Yu Gothic"/>
                        </a:rPr>
                        <a:t>UserService.GetUser({id: "123"})</a:t>
                      </a:r>
                    </a:p>
                  </a:txBody>
                  <a:tcPr marL="91440" marR="91440" marT="45720" marB="45720" anchor="ctr">
                    <a:solidFill>
                      <a:srgbClr val="EEF3F6"/>
                    </a:solidFill>
                  </a:tcPr>
                </a:tc>
                <a:tc>
                  <a:txBody>
                    <a:bodyPr lIns="123825" tIns="95250" rIns="95250" bIns="95250"/>
                    <a:lstStyle/>
                    <a:p>
                      <a:r>
                        <a:rPr sz="1800" b="0">
                          <a:solidFill>
                            <a:srgbClr val="172A3A"/>
                          </a:solidFill>
                          <a:latin typeface="Yu Gothic"/>
                          <a:ea typeface="Yu Gothic"/>
                          <a:cs typeface="Yu Gothic"/>
                        </a:rPr>
                        <a:t>サービスメソッドと型付き引数</a:t>
                      </a:r>
                    </a:p>
                  </a:txBody>
                  <a:tcPr marL="91440" marR="91440" marT="45720" marB="45720" anchor="ctr">
                    <a:solidFill>
                      <a:srgbClr val="EEF3F6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AB99B9-30A3-41F3-938D-02C44F9C3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48350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6575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526575"/>
                </a:solidFill>
                <a:latin typeface="Yu Gothic"/>
                <a:ea typeface="Yu Gothic"/>
                <a:cs typeface="Yu Gothic"/>
              </a:rPr>
              <a:t>GraphQLは応答項目を選択する。ほかの方式でも、項目指定の仕組みを設計できる。</a:t>
            </a:r>
          </a:p>
        </p:txBody>
      </p:sp>
    </p:spTree>
    <p:extLst>
      <p:ext uri="{BB962C8B-B14F-4D97-AF65-F5344CB8AC3E}">
        <p14:creationId xmlns:p14="http://schemas.microsoft.com/office/powerpoint/2010/main" val="98804343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973509-85AF-4B99-9A55-288AE529B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2A3A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72A3A"/>
                </a:solidFill>
                <a:latin typeface="Yu Gothic"/>
                <a:ea typeface="Yu Gothic"/>
                <a:cs typeface="Yu Gothic"/>
              </a:rPr>
              <a:t>RESTとSOAP：長所・短所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7ACF10-3E13-47F9-B03E-61578F774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52525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6575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526575"/>
                </a:solidFill>
                <a:latin typeface="Yu Gothic"/>
                <a:ea typeface="Yu Gothic"/>
                <a:cs typeface="Yu Gothic"/>
              </a:rPr>
              <a:t>導入のしやすさと、契約・拡張仕様への要求を比較する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AC01A5-1A00-4ED8-86E2-8FAE31CB5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055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26575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526575"/>
                </a:solidFill>
                <a:latin typeface="Yu Gothic"/>
                <a:ea typeface="Yu Gothic"/>
                <a:cs typeface="Yu Gothic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9D91CC-E729-44B6-9D91-833D0A278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57375"/>
            <a:ext cx="514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6DA6"/>
                </a:solidFill>
                <a:latin typeface="Yu Gothic"/>
                <a:ea typeface="Yu Gothic"/>
                <a:cs typeface="Yu Gothic"/>
              </a:defRPr>
            </a:pPr>
            <a:r>
              <a:rPr sz="2700" b="1">
                <a:solidFill>
                  <a:srgbClr val="126DA6"/>
                </a:solidFill>
                <a:latin typeface="Yu Gothic"/>
                <a:ea typeface="Yu Gothic"/>
                <a:cs typeface="Yu Gothic"/>
              </a:rPr>
              <a:t>REST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865064-E796-4C9D-A1F6-89CB2D933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857375"/>
            <a:ext cx="514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916125"/>
                </a:solidFill>
                <a:latin typeface="Yu Gothic"/>
                <a:ea typeface="Yu Gothic"/>
                <a:cs typeface="Yu Gothic"/>
              </a:defRPr>
            </a:pPr>
            <a:r>
              <a:rPr sz="2700" b="1">
                <a:solidFill>
                  <a:srgbClr val="916125"/>
                </a:solidFill>
                <a:latin typeface="Yu Gothic"/>
                <a:ea typeface="Yu Gothic"/>
                <a:cs typeface="Yu Gothic"/>
              </a:rPr>
              <a:t>SOAP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F26969-6901-4560-8D8F-984E4DDCB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5095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26DA6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126DA6"/>
                </a:solidFill>
                <a:latin typeface="Yu Gothic"/>
                <a:ea typeface="Yu Gothic"/>
                <a:cs typeface="Yu Gothic"/>
              </a:rPr>
              <a:t>長所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8A308E-F7CA-44B1-B5CA-224165368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76575"/>
            <a:ext cx="509587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2A3A"/>
                </a:solidFill>
                <a:latin typeface="Yu Gothic"/>
                <a:ea typeface="Yu Gothic"/>
                <a:cs typeface="Yu Gothic"/>
              </a:defRPr>
            </a:pPr>
            <a:r>
              <a:rPr sz="1950" b="0">
                <a:solidFill>
                  <a:srgbClr val="172A3A"/>
                </a:solidFill>
                <a:latin typeface="Yu Gothic"/>
                <a:ea typeface="Yu Gothic"/>
                <a:cs typeface="Yu Gothic"/>
              </a:rPr>
              <a:t>HTTPの既存ツールを使いやすい。</a:t>
            </a:r>
          </a:p>
          <a:p xmlns:a="http://schemas.openxmlformats.org/drawingml/2006/main">
            <a:pPr algn="l">
              <a:defRPr sz="1950" b="0">
                <a:solidFill>
                  <a:srgbClr val="172A3A"/>
                </a:solidFill>
                <a:latin typeface="Yu Gothic"/>
                <a:ea typeface="Yu Gothic"/>
                <a:cs typeface="Yu Gothic"/>
              </a:defRPr>
            </a:pPr>
            <a:r>
              <a:rPr sz="1950" b="0">
                <a:solidFill>
                  <a:srgbClr val="172A3A"/>
                </a:solidFill>
                <a:latin typeface="Yu Gothic"/>
                <a:ea typeface="Yu Gothic"/>
                <a:cs typeface="Yu Gothic"/>
              </a:rPr>
              <a:t>キャッシュや公開APIに適用しやすい。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63E840-5C51-4C00-8AB0-60DE88639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571750"/>
            <a:ext cx="514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916125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916125"/>
                </a:solidFill>
                <a:latin typeface="Yu Gothic"/>
                <a:ea typeface="Yu Gothic"/>
                <a:cs typeface="Yu Gothic"/>
              </a:rPr>
              <a:t>長所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7EFE90-A931-490A-B40A-B9B146504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076575"/>
            <a:ext cx="5143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2A3A"/>
                </a:solidFill>
                <a:latin typeface="Yu Gothic"/>
                <a:ea typeface="Yu Gothic"/>
                <a:cs typeface="Yu Gothic"/>
              </a:defRPr>
            </a:pPr>
            <a:r>
              <a:rPr sz="1950" b="0">
                <a:solidFill>
                  <a:srgbClr val="172A3A"/>
                </a:solidFill>
                <a:latin typeface="Yu Gothic"/>
                <a:ea typeface="Yu Gothic"/>
                <a:cs typeface="Yu Gothic"/>
              </a:rPr>
              <a:t>XML・WSDLによる厳密な契約。</a:t>
            </a:r>
          </a:p>
          <a:p xmlns:a="http://schemas.openxmlformats.org/drawingml/2006/main">
            <a:pPr algn="l">
              <a:defRPr sz="1950" b="0">
                <a:solidFill>
                  <a:srgbClr val="172A3A"/>
                </a:solidFill>
                <a:latin typeface="Yu Gothic"/>
                <a:ea typeface="Yu Gothic"/>
                <a:cs typeface="Yu Gothic"/>
              </a:defRPr>
            </a:pPr>
            <a:r>
              <a:rPr sz="1950" b="0">
                <a:solidFill>
                  <a:srgbClr val="172A3A"/>
                </a:solidFill>
                <a:latin typeface="Yu Gothic"/>
                <a:ea typeface="Yu Gothic"/>
                <a:cs typeface="Yu Gothic"/>
              </a:rPr>
              <a:t>既存の企業連携やWS-*資産を活用。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484137-22CF-4943-9315-A5C4764AE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38650"/>
            <a:ext cx="5095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26DA6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126DA6"/>
                </a:solidFill>
                <a:latin typeface="Yu Gothic"/>
                <a:ea typeface="Yu Gothic"/>
                <a:cs typeface="Yu Gothic"/>
              </a:rPr>
              <a:t>短所・設計上の課題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D4CD43-EEA1-40BC-88AD-500E1AB72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43475"/>
            <a:ext cx="509587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2A3A"/>
                </a:solidFill>
                <a:latin typeface="Yu Gothic"/>
                <a:ea typeface="Yu Gothic"/>
                <a:cs typeface="Yu Gothic"/>
              </a:defRPr>
            </a:pPr>
            <a:r>
              <a:rPr sz="1950" b="0">
                <a:solidFill>
                  <a:srgbClr val="172A3A"/>
                </a:solidFill>
                <a:latin typeface="Yu Gothic"/>
                <a:ea typeface="Yu Gothic"/>
                <a:cs typeface="Yu Gothic"/>
              </a:rPr>
              <a:t>固定的な応答では取得過多や不足。</a:t>
            </a:r>
          </a:p>
          <a:p xmlns:a="http://schemas.openxmlformats.org/drawingml/2006/main">
            <a:pPr algn="l">
              <a:defRPr sz="1950" b="0">
                <a:solidFill>
                  <a:srgbClr val="172A3A"/>
                </a:solidFill>
                <a:latin typeface="Yu Gothic"/>
                <a:ea typeface="Yu Gothic"/>
                <a:cs typeface="Yu Gothic"/>
              </a:defRPr>
            </a:pPr>
            <a:r>
              <a:rPr sz="1950" b="0">
                <a:solidFill>
                  <a:srgbClr val="172A3A"/>
                </a:solidFill>
                <a:latin typeface="Yu Gothic"/>
                <a:ea typeface="Yu Gothic"/>
                <a:cs typeface="Yu Gothic"/>
              </a:rPr>
              <a:t>複雑な画面では要求回数が増えやすい。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E41700-3133-4ECA-B12A-6702D75AD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438650"/>
            <a:ext cx="514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916125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916125"/>
                </a:solidFill>
                <a:latin typeface="Yu Gothic"/>
                <a:ea typeface="Yu Gothic"/>
                <a:cs typeface="Yu Gothic"/>
              </a:rPr>
              <a:t>短所・設計上の課題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205F07-3F7A-4746-8217-CBF88A5AA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943475"/>
            <a:ext cx="5143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2A3A"/>
                </a:solidFill>
                <a:latin typeface="Yu Gothic"/>
                <a:ea typeface="Yu Gothic"/>
                <a:cs typeface="Yu Gothic"/>
              </a:defRPr>
            </a:pPr>
            <a:r>
              <a:rPr sz="1950" b="0">
                <a:solidFill>
                  <a:srgbClr val="172A3A"/>
                </a:solidFill>
                <a:latin typeface="Yu Gothic"/>
                <a:ea typeface="Yu Gothic"/>
                <a:cs typeface="Yu Gothic"/>
              </a:rPr>
              <a:t>XMLや拡張仕様で処理が複雑化。</a:t>
            </a:r>
          </a:p>
          <a:p xmlns:a="http://schemas.openxmlformats.org/drawingml/2006/main">
            <a:pPr algn="l">
              <a:defRPr sz="1950" b="0">
                <a:solidFill>
                  <a:srgbClr val="172A3A"/>
                </a:solidFill>
                <a:latin typeface="Yu Gothic"/>
                <a:ea typeface="Yu Gothic"/>
                <a:cs typeface="Yu Gothic"/>
              </a:defRPr>
            </a:pPr>
            <a:r>
              <a:rPr sz="1950" b="0">
                <a:solidFill>
                  <a:srgbClr val="172A3A"/>
                </a:solidFill>
                <a:latin typeface="Yu Gothic"/>
                <a:ea typeface="Yu Gothic"/>
                <a:cs typeface="Yu Gothic"/>
              </a:rPr>
              <a:t>仕様・ツール間の互換性確認が必要。</a:t>
            </a:r>
          </a:p>
        </p:txBody>
      </p:sp>
    </p:spTree>
    <p:extLst>
      <p:ext uri="{BB962C8B-B14F-4D97-AF65-F5344CB8AC3E}">
        <p14:creationId xmlns:p14="http://schemas.microsoft.com/office/powerpoint/2010/main" val="6868117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6A7B20-1674-4FA6-98B1-EA81D56EB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2A3A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72A3A"/>
                </a:solidFill>
                <a:latin typeface="Yu Gothic"/>
                <a:ea typeface="Yu Gothic"/>
                <a:cs typeface="Yu Gothic"/>
              </a:rPr>
              <a:t>GraphQLとgRPC：長所・短所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D1113B-7FD3-4260-8867-CEBD43500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52525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6575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526575"/>
                </a:solidFill>
                <a:latin typeface="Yu Gothic"/>
                <a:ea typeface="Yu Gothic"/>
                <a:cs typeface="Yu Gothic"/>
              </a:rPr>
              <a:t>取得の柔軟性と、サービス間通信の効率を比較する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382B22-1740-468C-B81E-0792182A9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055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26575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526575"/>
                </a:solidFill>
                <a:latin typeface="Yu Gothic"/>
                <a:ea typeface="Yu Gothic"/>
                <a:cs typeface="Yu Gothic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41C9EB-59EE-4641-B602-88BC23203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57375"/>
            <a:ext cx="514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A12F79"/>
                </a:solidFill>
                <a:latin typeface="Yu Gothic"/>
                <a:ea typeface="Yu Gothic"/>
                <a:cs typeface="Yu Gothic"/>
              </a:defRPr>
            </a:pPr>
            <a:r>
              <a:rPr sz="2700" b="1">
                <a:solidFill>
                  <a:srgbClr val="A12F79"/>
                </a:solidFill>
                <a:latin typeface="Yu Gothic"/>
                <a:ea typeface="Yu Gothic"/>
                <a:cs typeface="Yu Gothic"/>
              </a:rPr>
              <a:t>GraphQL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8261EE-E354-4949-BC55-FC4E4952C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857375"/>
            <a:ext cx="514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87F78"/>
                </a:solidFill>
                <a:latin typeface="Yu Gothic"/>
                <a:ea typeface="Yu Gothic"/>
                <a:cs typeface="Yu Gothic"/>
              </a:defRPr>
            </a:pPr>
            <a:r>
              <a:rPr sz="2700" b="1">
                <a:solidFill>
                  <a:srgbClr val="087F78"/>
                </a:solidFill>
                <a:latin typeface="Yu Gothic"/>
                <a:ea typeface="Yu Gothic"/>
                <a:cs typeface="Yu Gothic"/>
              </a:rPr>
              <a:t>gRPC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879751-B81B-40B2-B71A-5F7DAD45D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5095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A12F79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A12F79"/>
                </a:solidFill>
                <a:latin typeface="Yu Gothic"/>
                <a:ea typeface="Yu Gothic"/>
                <a:cs typeface="Yu Gothic"/>
              </a:rPr>
              <a:t>長所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D3C273-3947-4D1B-AA89-1B1F1B620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76575"/>
            <a:ext cx="509587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2A3A"/>
                </a:solidFill>
                <a:latin typeface="Yu Gothic"/>
                <a:ea typeface="Yu Gothic"/>
                <a:cs typeface="Yu Gothic"/>
              </a:defRPr>
            </a:pPr>
            <a:r>
              <a:rPr sz="1950" b="0">
                <a:solidFill>
                  <a:srgbClr val="172A3A"/>
                </a:solidFill>
                <a:latin typeface="Yu Gothic"/>
                <a:ea typeface="Yu Gothic"/>
                <a:cs typeface="Yu Gothic"/>
              </a:rPr>
              <a:t>画面ごとに必要なデータを選択。</a:t>
            </a:r>
          </a:p>
          <a:p xmlns:a="http://schemas.openxmlformats.org/drawingml/2006/main">
            <a:pPr algn="l">
              <a:defRPr sz="1950" b="0">
                <a:solidFill>
                  <a:srgbClr val="172A3A"/>
                </a:solidFill>
                <a:latin typeface="Yu Gothic"/>
                <a:ea typeface="Yu Gothic"/>
                <a:cs typeface="Yu Gothic"/>
              </a:defRPr>
            </a:pPr>
            <a:r>
              <a:rPr sz="1950" b="0">
                <a:solidFill>
                  <a:srgbClr val="172A3A"/>
                </a:solidFill>
                <a:latin typeface="Yu Gothic"/>
                <a:ea typeface="Yu Gothic"/>
                <a:cs typeface="Yu Gothic"/>
              </a:rPr>
              <a:t>型・スキーマから開発ツールを構築。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9BA47A-CDA5-4C28-825E-668C9487D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571750"/>
            <a:ext cx="514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87F78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087F78"/>
                </a:solidFill>
                <a:latin typeface="Yu Gothic"/>
                <a:ea typeface="Yu Gothic"/>
                <a:cs typeface="Yu Gothic"/>
              </a:rPr>
              <a:t>長所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AE7335-94B1-4E04-919F-F0C06B7E0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076575"/>
            <a:ext cx="5143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2A3A"/>
                </a:solidFill>
                <a:latin typeface="Yu Gothic"/>
                <a:ea typeface="Yu Gothic"/>
                <a:cs typeface="Yu Gothic"/>
              </a:defRPr>
            </a:pPr>
            <a:r>
              <a:rPr sz="1950" b="0">
                <a:solidFill>
                  <a:srgbClr val="172A3A"/>
                </a:solidFill>
                <a:latin typeface="Yu Gothic"/>
                <a:ea typeface="Yu Gothic"/>
                <a:cs typeface="Yu Gothic"/>
              </a:rPr>
              <a:t>型付きコード生成で連携しやすい。</a:t>
            </a:r>
          </a:p>
          <a:p xmlns:a="http://schemas.openxmlformats.org/drawingml/2006/main">
            <a:pPr algn="l">
              <a:defRPr sz="1950" b="0">
                <a:solidFill>
                  <a:srgbClr val="172A3A"/>
                </a:solidFill>
                <a:latin typeface="Yu Gothic"/>
                <a:ea typeface="Yu Gothic"/>
                <a:cs typeface="Yu Gothic"/>
              </a:defRPr>
            </a:pPr>
            <a:r>
              <a:rPr sz="1950" b="0">
                <a:solidFill>
                  <a:srgbClr val="172A3A"/>
                </a:solidFill>
                <a:latin typeface="Yu Gothic"/>
                <a:ea typeface="Yu Gothic"/>
                <a:cs typeface="Yu Gothic"/>
              </a:rPr>
              <a:t>バイナリ通信とStreamingを活用。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E0D06A-A12C-4326-8BC4-34ED72F0D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38650"/>
            <a:ext cx="5095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A12F79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A12F79"/>
                </a:solidFill>
                <a:latin typeface="Yu Gothic"/>
                <a:ea typeface="Yu Gothic"/>
                <a:cs typeface="Yu Gothic"/>
              </a:rPr>
              <a:t>短所・設計上の課題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B0D2BC-9188-4952-8B89-67DD975B4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43475"/>
            <a:ext cx="509587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2A3A"/>
                </a:solidFill>
                <a:latin typeface="Yu Gothic"/>
                <a:ea typeface="Yu Gothic"/>
                <a:cs typeface="Yu Gothic"/>
              </a:defRPr>
            </a:pPr>
            <a:r>
              <a:rPr sz="1950" b="0">
                <a:solidFill>
                  <a:srgbClr val="172A3A"/>
                </a:solidFill>
                <a:latin typeface="Yu Gothic"/>
                <a:ea typeface="Yu Gothic"/>
                <a:cs typeface="Yu Gothic"/>
              </a:rPr>
              <a:t>N+1、認可、クエリ負荷を制御。</a:t>
            </a:r>
          </a:p>
          <a:p xmlns:a="http://schemas.openxmlformats.org/drawingml/2006/main">
            <a:pPr algn="l">
              <a:defRPr sz="1950" b="0">
                <a:solidFill>
                  <a:srgbClr val="172A3A"/>
                </a:solidFill>
                <a:latin typeface="Yu Gothic"/>
                <a:ea typeface="Yu Gothic"/>
                <a:cs typeface="Yu Gothic"/>
              </a:defRPr>
            </a:pPr>
            <a:r>
              <a:rPr sz="1950" b="0">
                <a:solidFill>
                  <a:srgbClr val="172A3A"/>
                </a:solidFill>
                <a:latin typeface="Yu Gothic"/>
                <a:ea typeface="Yu Gothic"/>
                <a:cs typeface="Yu Gothic"/>
              </a:rPr>
              <a:t>HTTPキャッシュは追加の工夫が必要。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A654F2-B82E-49CC-8C5B-AA6B78C7B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438650"/>
            <a:ext cx="514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87F78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087F78"/>
                </a:solidFill>
                <a:latin typeface="Yu Gothic"/>
                <a:ea typeface="Yu Gothic"/>
                <a:cs typeface="Yu Gothic"/>
              </a:rPr>
              <a:t>短所・設計上の課題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2DAD72-CFD9-40E3-930E-D6124C971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943475"/>
            <a:ext cx="5143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2A3A"/>
                </a:solidFill>
                <a:latin typeface="Yu Gothic"/>
                <a:ea typeface="Yu Gothic"/>
                <a:cs typeface="Yu Gothic"/>
              </a:defRPr>
            </a:pPr>
            <a:r>
              <a:rPr sz="1950" b="0">
                <a:solidFill>
                  <a:srgbClr val="172A3A"/>
                </a:solidFill>
                <a:latin typeface="Yu Gothic"/>
                <a:ea typeface="Yu Gothic"/>
                <a:cs typeface="Yu Gothic"/>
              </a:rPr>
              <a:t>ブラウザー連携に追加構成が必要。</a:t>
            </a:r>
          </a:p>
          <a:p xmlns:a="http://schemas.openxmlformats.org/drawingml/2006/main">
            <a:pPr algn="l">
              <a:defRPr sz="1950" b="0">
                <a:solidFill>
                  <a:srgbClr val="172A3A"/>
                </a:solidFill>
                <a:latin typeface="Yu Gothic"/>
                <a:ea typeface="Yu Gothic"/>
                <a:cs typeface="Yu Gothic"/>
              </a:defRPr>
            </a:pPr>
            <a:r>
              <a:rPr sz="1950" b="0">
                <a:solidFill>
                  <a:srgbClr val="172A3A"/>
                </a:solidFill>
                <a:latin typeface="Yu Gothic"/>
                <a:ea typeface="Yu Gothic"/>
                <a:cs typeface="Yu Gothic"/>
              </a:rPr>
              <a:t>バイナリ解析には対応ツールを使う。</a:t>
            </a:r>
          </a:p>
        </p:txBody>
      </p:sp>
    </p:spTree>
    <p:extLst>
      <p:ext uri="{BB962C8B-B14F-4D97-AF65-F5344CB8AC3E}">
        <p14:creationId xmlns:p14="http://schemas.microsoft.com/office/powerpoint/2010/main" val="41049556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99CD71-10E9-45E5-863F-730B9DE46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2A3A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72A3A"/>
                </a:solidFill>
                <a:latin typeface="Yu Gothic"/>
                <a:ea typeface="Yu Gothic"/>
                <a:cs typeface="Yu Gothic"/>
              </a:rPr>
              <a:t>典型的な用途と選定の手掛かり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6C11ED-BA6A-4965-883A-EB05505CF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52525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6575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526575"/>
                </a:solidFill>
                <a:latin typeface="Yu Gothic"/>
                <a:ea typeface="Yu Gothic"/>
                <a:cs typeface="Yu Gothic"/>
              </a:rPr>
              <a:t>まず利用者・既存の契約・通信パターンを確認する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871242-594E-4218-A018-C0CCBE054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055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26575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526575"/>
                </a:solidFill>
                <a:latin typeface="Yu Gothic"/>
                <a:ea typeface="Yu Gothic"/>
                <a:cs typeface="Yu Gothic"/>
              </a:rPr>
              <a:t>11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857375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572000"/>
                <a:gridCol w="1809750"/>
                <a:gridCol w="4591050"/>
              </a:tblGrid>
              <a:tr h="742950">
                <a:tc>
                  <a:txBody>
                    <a:bodyPr lIns="123825" tIns="95250" rIns="95250" bIns="9525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利用場面</a:t>
                      </a:r>
                    </a:p>
                  </a:txBody>
                  <a:tcPr marL="91440" marR="91440" marT="45720" marB="45720" anchor="ctr">
                    <a:solidFill>
                      <a:srgbClr val="172A3A"/>
                    </a:solidFill>
                  </a:tcPr>
                </a:tc>
                <a:tc>
                  <a:txBody>
                    <a:bodyPr lIns="123825" tIns="95250" rIns="95250" bIns="9525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候補</a:t>
                      </a:r>
                    </a:p>
                  </a:txBody>
                  <a:tcPr marL="91440" marR="91440" marT="45720" marB="45720" anchor="ctr">
                    <a:solidFill>
                      <a:srgbClr val="172A3A"/>
                    </a:solidFill>
                  </a:tcPr>
                </a:tc>
                <a:tc>
                  <a:txBody>
                    <a:bodyPr lIns="123825" tIns="95250" rIns="95250" bIns="9525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判断の理由</a:t>
                      </a:r>
                    </a:p>
                  </a:txBody>
                  <a:tcPr marL="91440" marR="91440" marT="45720" marB="45720" anchor="ctr">
                    <a:solidFill>
                      <a:srgbClr val="172A3A"/>
                    </a:solidFill>
                  </a:tcPr>
                </a:tc>
              </a:tr>
              <a:tr h="742950">
                <a:tc>
                  <a:txBody>
                    <a:bodyPr lIns="123825" tIns="95250" rIns="95250" bIns="95250"/>
                    <a:lstStyle/>
                    <a:p>
                      <a:r>
                        <a:rPr sz="1875" b="1">
                          <a:solidFill>
                            <a:srgbClr val="172A3A"/>
                          </a:solidFill>
                          <a:latin typeface="Yu Gothic"/>
                          <a:ea typeface="Yu Gothic"/>
                          <a:cs typeface="Yu Gothic"/>
                        </a:rPr>
                        <a:t>公開API・一般的なWebアプリ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95250" rIns="95250" bIns="95250"/>
                    <a:lstStyle/>
                    <a:p>
                      <a:r>
                        <a:rPr sz="1875" b="0">
                          <a:solidFill>
                            <a:srgbClr val="172A3A"/>
                          </a:solidFill>
                          <a:latin typeface="Yu Gothic"/>
                          <a:ea typeface="Yu Gothic"/>
                          <a:cs typeface="Yu Gothic"/>
                        </a:rPr>
                        <a:t>REST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95250" rIns="95250" bIns="95250"/>
                    <a:lstStyle/>
                    <a:p>
                      <a:r>
                        <a:rPr sz="1875" b="0">
                          <a:solidFill>
                            <a:srgbClr val="172A3A"/>
                          </a:solidFill>
                          <a:latin typeface="Yu Gothic"/>
                          <a:ea typeface="Yu Gothic"/>
                          <a:cs typeface="Yu Gothic"/>
                        </a:rPr>
                        <a:t>HTTPとの親和性、利用者の幅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lIns="123825" tIns="95250" rIns="95250" bIns="95250"/>
                    <a:lstStyle/>
                    <a:p>
                      <a:r>
                        <a:rPr sz="1875" b="1">
                          <a:solidFill>
                            <a:srgbClr val="172A3A"/>
                          </a:solidFill>
                          <a:latin typeface="Yu Gothic"/>
                          <a:ea typeface="Yu Gothic"/>
                          <a:cs typeface="Yu Gothic"/>
                        </a:rPr>
                        <a:t>既存の基幹・企業間システム連携</a:t>
                      </a:r>
                    </a:p>
                  </a:txBody>
                  <a:tcPr marL="91440" marR="91440" marT="45720" marB="45720" anchor="ctr">
                    <a:solidFill>
                      <a:srgbClr val="EEF3F6"/>
                    </a:solidFill>
                  </a:tcPr>
                </a:tc>
                <a:tc>
                  <a:txBody>
                    <a:bodyPr lIns="123825" tIns="95250" rIns="95250" bIns="95250"/>
                    <a:lstStyle/>
                    <a:p>
                      <a:r>
                        <a:rPr sz="1875" b="0">
                          <a:solidFill>
                            <a:srgbClr val="172A3A"/>
                          </a:solidFill>
                          <a:latin typeface="Yu Gothic"/>
                          <a:ea typeface="Yu Gothic"/>
                          <a:cs typeface="Yu Gothic"/>
                        </a:rPr>
                        <a:t>SOAP</a:t>
                      </a:r>
                    </a:p>
                  </a:txBody>
                  <a:tcPr marL="91440" marR="91440" marT="45720" marB="45720" anchor="ctr">
                    <a:solidFill>
                      <a:srgbClr val="EEF3F6"/>
                    </a:solidFill>
                  </a:tcPr>
                </a:tc>
                <a:tc>
                  <a:txBody>
                    <a:bodyPr lIns="123825" tIns="95250" rIns="95250" bIns="95250"/>
                    <a:lstStyle/>
                    <a:p>
                      <a:r>
                        <a:rPr sz="1875" b="0">
                          <a:solidFill>
                            <a:srgbClr val="172A3A"/>
                          </a:solidFill>
                          <a:latin typeface="Yu Gothic"/>
                          <a:ea typeface="Yu Gothic"/>
                          <a:cs typeface="Yu Gothic"/>
                        </a:rPr>
                        <a:t>相手先が求めるWSDL・WS-*契約</a:t>
                      </a:r>
                    </a:p>
                  </a:txBody>
                  <a:tcPr marL="91440" marR="91440" marT="45720" marB="45720" anchor="ctr">
                    <a:solidFill>
                      <a:srgbClr val="EEF3F6"/>
                    </a:solidFill>
                  </a:tcPr>
                </a:tc>
              </a:tr>
              <a:tr h="742950">
                <a:tc>
                  <a:txBody>
                    <a:bodyPr lIns="123825" tIns="95250" rIns="95250" bIns="95250"/>
                    <a:lstStyle/>
                    <a:p>
                      <a:r>
                        <a:rPr sz="1875" b="1">
                          <a:solidFill>
                            <a:srgbClr val="172A3A"/>
                          </a:solidFill>
                          <a:latin typeface="Yu Gothic"/>
                          <a:ea typeface="Yu Gothic"/>
                          <a:cs typeface="Yu Gothic"/>
                        </a:rPr>
                        <a:t>画面ごとに取得項目が異なるアプリ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95250" rIns="95250" bIns="95250"/>
                    <a:lstStyle/>
                    <a:p>
                      <a:r>
                        <a:rPr sz="1875" b="0">
                          <a:solidFill>
                            <a:srgbClr val="172A3A"/>
                          </a:solidFill>
                          <a:latin typeface="Yu Gothic"/>
                          <a:ea typeface="Yu Gothic"/>
                          <a:cs typeface="Yu Gothic"/>
                        </a:rPr>
                        <a:t>GraphQL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95250" rIns="95250" bIns="95250"/>
                    <a:lstStyle/>
                    <a:p>
                      <a:r>
                        <a:rPr sz="1875" b="0">
                          <a:solidFill>
                            <a:srgbClr val="172A3A"/>
                          </a:solidFill>
                          <a:latin typeface="Yu Gothic"/>
                          <a:ea typeface="Yu Gothic"/>
                          <a:cs typeface="Yu Gothic"/>
                        </a:rPr>
                        <a:t>関連データを柔軟に取得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lIns="123825" tIns="95250" rIns="95250" bIns="95250"/>
                    <a:lstStyle/>
                    <a:p>
                      <a:r>
                        <a:rPr sz="1875" b="1">
                          <a:solidFill>
                            <a:srgbClr val="172A3A"/>
                          </a:solidFill>
                          <a:latin typeface="Yu Gothic"/>
                          <a:ea typeface="Yu Gothic"/>
                          <a:cs typeface="Yu Gothic"/>
                        </a:rPr>
                        <a:t>内部サービス・連続データ処理</a:t>
                      </a:r>
                    </a:p>
                  </a:txBody>
                  <a:tcPr marL="91440" marR="91440" marT="45720" marB="45720" anchor="ctr">
                    <a:solidFill>
                      <a:srgbClr val="EEF3F6"/>
                    </a:solidFill>
                  </a:tcPr>
                </a:tc>
                <a:tc>
                  <a:txBody>
                    <a:bodyPr lIns="123825" tIns="95250" rIns="95250" bIns="95250"/>
                    <a:lstStyle/>
                    <a:p>
                      <a:r>
                        <a:rPr sz="1875" b="0">
                          <a:solidFill>
                            <a:srgbClr val="172A3A"/>
                          </a:solidFill>
                          <a:latin typeface="Yu Gothic"/>
                          <a:ea typeface="Yu Gothic"/>
                          <a:cs typeface="Yu Gothic"/>
                        </a:rPr>
                        <a:t>gRPC</a:t>
                      </a:r>
                    </a:p>
                  </a:txBody>
                  <a:tcPr marL="91440" marR="91440" marT="45720" marB="45720" anchor="ctr">
                    <a:solidFill>
                      <a:srgbClr val="EEF3F6"/>
                    </a:solidFill>
                  </a:tcPr>
                </a:tc>
                <a:tc>
                  <a:txBody>
                    <a:bodyPr lIns="123825" tIns="95250" rIns="95250" bIns="95250"/>
                    <a:lstStyle/>
                    <a:p>
                      <a:r>
                        <a:rPr sz="1875" b="0">
                          <a:solidFill>
                            <a:srgbClr val="172A3A"/>
                          </a:solidFill>
                          <a:latin typeface="Yu Gothic"/>
                          <a:ea typeface="Yu Gothic"/>
                          <a:cs typeface="Yu Gothic"/>
                        </a:rPr>
                        <a:t>型付き契約、効率、Streaming</a:t>
                      </a:r>
                    </a:p>
                  </a:txBody>
                  <a:tcPr marL="91440" marR="91440" marT="45720" marB="45720" anchor="ctr">
                    <a:solidFill>
                      <a:srgbClr val="EEF3F6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1D152D-E93F-42F2-8123-5E0FCB99D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67400"/>
            <a:ext cx="10896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26575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526575"/>
                </a:solidFill>
                <a:latin typeface="Yu Gothic"/>
                <a:ea typeface="Yu Gothic"/>
                <a:cs typeface="Yu Gothic"/>
              </a:rPr>
              <a:t>業界名だけで決めず、接続先の要件と実測結果で判断する。</a:t>
            </a:r>
          </a:p>
        </p:txBody>
      </p:sp>
    </p:spTree>
    <p:extLst>
      <p:ext uri="{BB962C8B-B14F-4D97-AF65-F5344CB8AC3E}">
        <p14:creationId xmlns:p14="http://schemas.microsoft.com/office/powerpoint/2010/main" val="37598568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302B60-2A5B-4C68-B7CD-EB7BF695C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2A3A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72A3A"/>
                </a:solidFill>
                <a:latin typeface="Yu Gothic"/>
                <a:ea typeface="Yu Gothic"/>
                <a:cs typeface="Yu Gothic"/>
              </a:rPr>
              <a:t>複数方式を組み合わせた構成例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BD990E-34A1-43EE-A183-A651053E7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52525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6575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526575"/>
                </a:solidFill>
                <a:latin typeface="Yu Gothic"/>
                <a:ea typeface="Yu Gothic"/>
                <a:cs typeface="Yu Gothic"/>
              </a:rPr>
              <a:t>外部との接続と内部通信で、それぞれ適した方式を使う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06896A-75D1-4145-87DA-AC2A6E541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055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26575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526575"/>
                </a:solidFill>
                <a:latin typeface="Yu Gothic"/>
                <a:ea typeface="Yu Gothic"/>
                <a:cs typeface="Yu Gothic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AF3820-D524-4C48-86E9-E9F199413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2286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12F79"/>
            </a:solidFill>
          </a:ln>
        </p:spPr>
        <p:txBody>
          <a:bodyPr xmlns:a="http://schemas.openxmlformats.org/drawingml/2006/main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A12F79"/>
                </a:solidFill>
                <a:latin typeface="Yu Gothic"/>
                <a:ea typeface="Yu Gothic"/>
                <a:cs typeface="Yu Gothic"/>
              </a:defRPr>
            </a:pPr>
            <a:r>
              <a:rPr sz="1950" b="1">
                <a:solidFill>
                  <a:srgbClr val="A12F79"/>
                </a:solidFill>
                <a:latin typeface="Yu Gothic"/>
                <a:ea typeface="Yu Gothic"/>
                <a:cs typeface="Yu Gothic"/>
              </a:rPr>
              <a:t>Web／モバイル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2B89BE-0EEF-45D3-B04B-CD32CF43D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095500"/>
            <a:ext cx="24574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12F79"/>
            </a:solidFill>
          </a:ln>
        </p:spPr>
        <p:txBody>
          <a:bodyPr xmlns:a="http://schemas.openxmlformats.org/drawingml/2006/main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A12F79"/>
                </a:solidFill>
                <a:latin typeface="Yu Gothic"/>
                <a:ea typeface="Yu Gothic"/>
                <a:cs typeface="Yu Gothic"/>
              </a:defRPr>
            </a:pPr>
            <a:r>
              <a:rPr sz="1950" b="1">
                <a:solidFill>
                  <a:srgbClr val="A12F79"/>
                </a:solidFill>
                <a:latin typeface="Yu Gothic"/>
                <a:ea typeface="Yu Gothic"/>
                <a:cs typeface="Yu Gothic"/>
              </a:rPr>
              <a:t>画面向けAPI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C37B73-4E71-4D04-9706-695AA2325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391025"/>
            <a:ext cx="24574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87F78"/>
            </a:solidFill>
          </a:ln>
        </p:spPr>
        <p:txBody>
          <a:bodyPr xmlns:a="http://schemas.openxmlformats.org/drawingml/2006/main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87F78"/>
                </a:solidFill>
                <a:latin typeface="Yu Gothic"/>
                <a:ea typeface="Yu Gothic"/>
                <a:cs typeface="Yu Gothic"/>
              </a:defRPr>
            </a:pPr>
            <a:r>
              <a:rPr sz="1950" b="1">
                <a:solidFill>
                  <a:srgbClr val="087F78"/>
                </a:solidFill>
                <a:latin typeface="Yu Gothic"/>
                <a:ea typeface="Yu Gothic"/>
                <a:cs typeface="Yu Gothic"/>
              </a:rPr>
              <a:t>注文サービス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C7D33A-A5B6-4550-83EC-8B44D4BDD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391025"/>
            <a:ext cx="24574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87F78"/>
            </a:solidFill>
          </a:ln>
        </p:spPr>
        <p:txBody>
          <a:bodyPr xmlns:a="http://schemas.openxmlformats.org/drawingml/2006/main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87F78"/>
                </a:solidFill>
                <a:latin typeface="Yu Gothic"/>
                <a:ea typeface="Yu Gothic"/>
                <a:cs typeface="Yu Gothic"/>
              </a:defRPr>
            </a:pPr>
            <a:r>
              <a:rPr sz="1950" b="1">
                <a:solidFill>
                  <a:srgbClr val="087F78"/>
                </a:solidFill>
                <a:latin typeface="Yu Gothic"/>
                <a:ea typeface="Yu Gothic"/>
                <a:cs typeface="Yu Gothic"/>
              </a:rPr>
              <a:t>在庫サービス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8A64AB-7C58-464E-BE9F-D5E87A4D8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095500"/>
            <a:ext cx="24574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916125"/>
            </a:solidFill>
          </a:ln>
        </p:spPr>
        <p:txBody>
          <a:bodyPr xmlns:a="http://schemas.openxmlformats.org/drawingml/2006/main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916125"/>
                </a:solidFill>
                <a:latin typeface="Yu Gothic"/>
                <a:ea typeface="Yu Gothic"/>
                <a:cs typeface="Yu Gothic"/>
              </a:defRPr>
            </a:pPr>
            <a:r>
              <a:rPr sz="1950" b="1">
                <a:solidFill>
                  <a:srgbClr val="916125"/>
                </a:solidFill>
                <a:latin typeface="Yu Gothic"/>
                <a:ea typeface="Yu Gothic"/>
                <a:cs typeface="Yu Gothic"/>
              </a:rPr>
              <a:t>外部・既存システム</a:t>
            </a:r>
          </a:p>
        </p:txBody>
      </p:sp>
      <p:cxnSp>
        <p:nvCxnSpPr>
          <p:cNvPr id="26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952750" y="2524125"/>
            <a:ext cx="174307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A12F79"/>
            </a:solidFill>
            <a:headEnd type="triangle" w="med" len="med"/>
            <a:tailEnd type="triangle" w="med" len="med"/>
          </a:ln>
        </p:spPr>
      </p:cxnSp>
      <p:cxnSp>
        <p:nvCxnSpPr>
          <p:cNvPr id="27" name=""/>
          <p:cNvCxnSpPr>
            <a:stCxn xmlns:a="http://schemas.openxmlformats.org/drawingml/2006/main" id="5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5924550" y="2952750"/>
            <a:ext cx="0" cy="143827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87F78"/>
            </a:solidFill>
            <a:headEnd type="triangle" w="med" len="med"/>
            <a:tailEnd type="triangle" w="med" len="med"/>
          </a:ln>
        </p:spPr>
      </p:cxnSp>
      <p:cxnSp>
        <p:nvCxnSpPr>
          <p:cNvPr id="28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153275" y="4819650"/>
            <a:ext cx="193357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87F78"/>
            </a:solidFill>
            <a:headEnd type="triangle" w="med" len="med"/>
            <a:tailEnd type="triangle" w="med" len="med"/>
          </a:ln>
        </p:spPr>
      </p:cxnSp>
      <p:cxnSp>
        <p:nvCxnSpPr>
          <p:cNvPr id="29" name="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153275" y="2524125"/>
            <a:ext cx="193357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916125"/>
            </a:solidFill>
            <a:headEnd type="triangle" w="med" len="med"/>
            <a:tailEnd type="triangle" w="med" len="me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558ABE-A4A1-4264-8538-95FBDF79C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1714500"/>
            <a:ext cx="23907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12F79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A12F79"/>
                </a:solidFill>
                <a:latin typeface="Yu Gothic"/>
                <a:ea typeface="Yu Gothic"/>
                <a:cs typeface="Yu Gothic"/>
              </a:rPr>
              <a:t>GraphQL / REST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0758AB-0454-4724-8246-D39014656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76625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87F78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087F78"/>
                </a:solidFill>
                <a:latin typeface="Yu Gothic"/>
                <a:ea typeface="Yu Gothic"/>
                <a:cs typeface="Yu Gothic"/>
              </a:rPr>
              <a:t>gRPC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2D86E0-3351-4A2C-952E-ABF99E1E3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01955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87F78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087F78"/>
                </a:solidFill>
                <a:latin typeface="Yu Gothic"/>
                <a:ea typeface="Yu Gothic"/>
                <a:cs typeface="Yu Gothic"/>
              </a:rPr>
              <a:t>gRPC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12A030-6FF6-4E00-B5A4-0D9973E90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7145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916125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916125"/>
                </a:solidFill>
                <a:latin typeface="Yu Gothic"/>
                <a:ea typeface="Yu Gothic"/>
                <a:cs typeface="Yu Gothic"/>
              </a:rPr>
              <a:t>SOAPなど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9BA629-88C0-4EB5-BE72-671BB25C8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848350"/>
            <a:ext cx="10715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26575"/>
                </a:solidFill>
                <a:latin typeface="Yu Gothic"/>
                <a:ea typeface="Yu Gothic"/>
                <a:cs typeface="Yu Gothic"/>
              </a:defRPr>
            </a:pPr>
            <a:r>
              <a:rPr sz="2025" b="0">
                <a:solidFill>
                  <a:srgbClr val="526575"/>
                </a:solidFill>
                <a:latin typeface="Yu Gothic"/>
                <a:ea typeface="Yu Gothic"/>
                <a:cs typeface="Yu Gothic"/>
              </a:rPr>
              <a:t>認証・認可・監視・再試行の設計は、どの方式でも必要。</a:t>
            </a:r>
          </a:p>
        </p:txBody>
      </p:sp>
    </p:spTree>
    <p:extLst>
      <p:ext uri="{BB962C8B-B14F-4D97-AF65-F5344CB8AC3E}">
        <p14:creationId xmlns:p14="http://schemas.microsoft.com/office/powerpoint/2010/main" val="113725097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C3F28B-1405-46CF-BCC4-C7791FE79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2A3A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72A3A"/>
                </a:solidFill>
                <a:latin typeface="Yu Gothic"/>
                <a:ea typeface="Yu Gothic"/>
                <a:cs typeface="Yu Gothic"/>
              </a:rPr>
              <a:t>動画の説明を読む際の補足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BA0DED-DA29-430B-A804-BF9C709C5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52525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6575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526575"/>
                </a:solidFill>
                <a:latin typeface="Yu Gothic"/>
                <a:ea typeface="Yu Gothic"/>
                <a:cs typeface="Yu Gothic"/>
              </a:rPr>
              <a:t>入門向けの簡略化を、そのまま設計上の保証と捉えない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0E95A8-5794-4BC0-A826-F7D1D31BA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055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26575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526575"/>
                </a:solidFill>
                <a:latin typeface="Yu Gothic"/>
                <a:ea typeface="Yu Gothic"/>
                <a:cs typeface="Yu Gothic"/>
              </a:rPr>
              <a:t>13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790700"/>
          <a:ext xmlns:a="http://schemas.openxmlformats.org/drawingml/2006/main" cx="10972800" cy="4305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857625"/>
                <a:gridCol w="7115175"/>
              </a:tblGrid>
              <a:tr h="717550">
                <a:tc>
                  <a:txBody>
                    <a:bodyPr lIns="123825" tIns="95250" rIns="95250" bIns="9525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動画中の説明</a:t>
                      </a:r>
                    </a:p>
                  </a:txBody>
                  <a:tcPr marL="91440" marR="91440" marT="45720" marB="45720" anchor="ctr">
                    <a:solidFill>
                      <a:srgbClr val="172A3A"/>
                    </a:solidFill>
                  </a:tcPr>
                </a:tc>
                <a:tc>
                  <a:txBody>
                    <a:bodyPr lIns="123825" tIns="95250" rIns="95250" bIns="9525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技術説明としての補足</a:t>
                      </a:r>
                    </a:p>
                  </a:txBody>
                  <a:tcPr marL="91440" marR="91440" marT="45720" marB="45720" anchor="ctr">
                    <a:solidFill>
                      <a:srgbClr val="172A3A"/>
                    </a:solidFill>
                  </a:tcPr>
                </a:tc>
              </a:tr>
              <a:tr h="717550">
                <a:tc>
                  <a:txBody>
                    <a:bodyPr lIns="123825" tIns="95250" rIns="95250" bIns="95250"/>
                    <a:lstStyle/>
                    <a:p>
                      <a:r>
                        <a:rPr sz="1725" b="1">
                          <a:solidFill>
                            <a:srgbClr val="172A3A"/>
                          </a:solidFill>
                          <a:latin typeface="Yu Gothic"/>
                          <a:ea typeface="Yu Gothic"/>
                          <a:cs typeface="Yu Gothic"/>
                        </a:rPr>
                        <a:t>RESTは銀行用途には不十分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95250" rIns="95250" bIns="95250"/>
                    <a:lstStyle/>
                    <a:p>
                      <a:r>
                        <a:rPr sz="1725" b="0">
                          <a:solidFill>
                            <a:srgbClr val="172A3A"/>
                          </a:solidFill>
                          <a:latin typeface="Yu Gothic"/>
                          <a:ea typeface="Yu Gothic"/>
                          <a:cs typeface="Yu Gothic"/>
                        </a:rPr>
                        <a:t>RESTでも設計次第で利用可能。信頼性は方式名だけで決まらない。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17550">
                <a:tc>
                  <a:txBody>
                    <a:bodyPr lIns="123825" tIns="95250" rIns="95250" bIns="95250"/>
                    <a:lstStyle/>
                    <a:p>
                      <a:r>
                        <a:rPr sz="1725" b="1">
                          <a:solidFill>
                            <a:srgbClr val="172A3A"/>
                          </a:solidFill>
                          <a:latin typeface="Yu Gothic"/>
                          <a:ea typeface="Yu Gothic"/>
                          <a:cs typeface="Yu Gothic"/>
                        </a:rPr>
                        <a:t>SOAPなら配送や取引を保証</a:t>
                      </a:r>
                    </a:p>
                  </a:txBody>
                  <a:tcPr marL="91440" marR="91440" marT="45720" marB="45720" anchor="ctr">
                    <a:solidFill>
                      <a:srgbClr val="EEF3F6"/>
                    </a:solidFill>
                  </a:tcPr>
                </a:tc>
                <a:tc>
                  <a:txBody>
                    <a:bodyPr lIns="123825" tIns="95250" rIns="95250" bIns="95250"/>
                    <a:lstStyle/>
                    <a:p>
                      <a:r>
                        <a:rPr sz="1725" b="0">
                          <a:solidFill>
                            <a:srgbClr val="172A3A"/>
                          </a:solidFill>
                          <a:latin typeface="Yu Gothic"/>
                          <a:ea typeface="Yu Gothic"/>
                          <a:cs typeface="Yu Gothic"/>
                        </a:rPr>
                        <a:t>WS-*拡張やアプリ実装が必要。SOAP単独の保証ではない。</a:t>
                      </a:r>
                    </a:p>
                  </a:txBody>
                  <a:tcPr marL="91440" marR="91440" marT="45720" marB="45720" anchor="ctr">
                    <a:solidFill>
                      <a:srgbClr val="EEF3F6"/>
                    </a:solidFill>
                  </a:tcPr>
                </a:tc>
              </a:tr>
              <a:tr h="717550">
                <a:tc>
                  <a:txBody>
                    <a:bodyPr lIns="123825" tIns="95250" rIns="95250" bIns="95250"/>
                    <a:lstStyle/>
                    <a:p>
                      <a:r>
                        <a:rPr sz="1725" b="1">
                          <a:solidFill>
                            <a:srgbClr val="172A3A"/>
                          </a:solidFill>
                          <a:latin typeface="Yu Gothic"/>
                          <a:ea typeface="Yu Gothic"/>
                          <a:cs typeface="Yu Gothic"/>
                        </a:rPr>
                        <a:t>gRPCは7〜10倍高速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95250" rIns="95250" bIns="95250"/>
                    <a:lstStyle/>
                    <a:p>
                      <a:r>
                        <a:rPr sz="1725" b="0">
                          <a:solidFill>
                            <a:srgbClr val="172A3A"/>
                          </a:solidFill>
                          <a:latin typeface="Yu Gothic"/>
                          <a:ea typeface="Yu Gothic"/>
                          <a:cs typeface="Yu Gothic"/>
                        </a:rPr>
                        <a:t>汎用的な倍率ではない。データ量・実装・通信環境で実測する。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17550">
                <a:tc>
                  <a:txBody>
                    <a:bodyPr lIns="123825" tIns="95250" rIns="95250" bIns="95250"/>
                    <a:lstStyle/>
                    <a:p>
                      <a:r>
                        <a:rPr sz="1725" b="1">
                          <a:solidFill>
                            <a:srgbClr val="172A3A"/>
                          </a:solidFill>
                          <a:latin typeface="Yu Gothic"/>
                          <a:ea typeface="Yu Gothic"/>
                          <a:cs typeface="Yu Gothic"/>
                        </a:rPr>
                        <a:t>Protobufはデータを「圧縮」</a:t>
                      </a:r>
                    </a:p>
                  </a:txBody>
                  <a:tcPr marL="91440" marR="91440" marT="45720" marB="45720" anchor="ctr">
                    <a:solidFill>
                      <a:srgbClr val="EEF3F6"/>
                    </a:solidFill>
                  </a:tcPr>
                </a:tc>
                <a:tc>
                  <a:txBody>
                    <a:bodyPr lIns="123825" tIns="95250" rIns="95250" bIns="95250"/>
                    <a:lstStyle/>
                    <a:p>
                      <a:r>
                        <a:rPr sz="1725" b="0">
                          <a:solidFill>
                            <a:srgbClr val="172A3A"/>
                          </a:solidFill>
                          <a:latin typeface="Yu Gothic"/>
                          <a:ea typeface="Yu Gothic"/>
                          <a:cs typeface="Yu Gothic"/>
                        </a:rPr>
                        <a:t>主にバイナリへのシリアライズ。圧縮は別の機構。</a:t>
                      </a:r>
                    </a:p>
                  </a:txBody>
                  <a:tcPr marL="91440" marR="91440" marT="45720" marB="45720" anchor="ctr">
                    <a:solidFill>
                      <a:srgbClr val="EEF3F6"/>
                    </a:solidFill>
                  </a:tcPr>
                </a:tc>
              </a:tr>
              <a:tr h="717550">
                <a:tc>
                  <a:txBody>
                    <a:bodyPr lIns="123825" tIns="95250" rIns="95250" bIns="95250"/>
                    <a:lstStyle/>
                    <a:p>
                      <a:r>
                        <a:rPr sz="1725" b="1">
                          <a:solidFill>
                            <a:srgbClr val="172A3A"/>
                          </a:solidFill>
                          <a:latin typeface="Yu Gothic"/>
                          <a:ea typeface="Yu Gothic"/>
                          <a:cs typeface="Yu Gothic"/>
                        </a:rPr>
                        <a:t>GitHubのAPIはすべてGraphQL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95250" rIns="95250" bIns="95250"/>
                    <a:lstStyle/>
                    <a:p>
                      <a:r>
                        <a:rPr sz="1725" b="0">
                          <a:solidFill>
                            <a:srgbClr val="172A3A"/>
                          </a:solidFill>
                          <a:latin typeface="Yu Gothic"/>
                          <a:ea typeface="Yu Gothic"/>
                          <a:cs typeface="Yu Gothic"/>
                        </a:rPr>
                        <a:t>GitHubはREST APIとGraphQL APIの両方を提供。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39173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D75EAE-F7C1-483D-8F7E-EC02B64FC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2A3A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72A3A"/>
                </a:solidFill>
                <a:latin typeface="Yu Gothic"/>
                <a:ea typeface="Yu Gothic"/>
                <a:cs typeface="Yu Gothic"/>
              </a:rPr>
              <a:t>出典と復習ポイント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4B3CB2-3DFC-4E78-9A5A-8283FCD04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52525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6575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526575"/>
                </a:solidFill>
                <a:latin typeface="Yu Gothic"/>
                <a:ea typeface="Yu Gothic"/>
                <a:cs typeface="Yu Gothic"/>
              </a:rPr>
              <a:t>関連する動画区間と公式資料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CFCCFE-2CF6-4E89-B5E0-B7DAB848C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055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26575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526575"/>
                </a:solidFill>
                <a:latin typeface="Yu Gothic"/>
                <a:ea typeface="Yu Gothic"/>
                <a:cs typeface="Yu Gothic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0D6A05-9169-424C-8035-2D42B3D99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38325"/>
            <a:ext cx="10810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A3A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72A3A"/>
                </a:solidFill>
                <a:latin typeface="Yu Gothic"/>
                <a:ea typeface="Yu Gothic"/>
                <a:cs typeface="Yu Gothic"/>
                <a:hlinkClick xmlns:r="http://schemas.openxmlformats.org/officeDocument/2006/relationships" r:id="R8b1ce575faf64d58"/>
              </a:rPr>
              <a:t>動画：Codist「Every Type of API Explained in 18 Minutes」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AD22E6-F7A5-4747-9F51-EB89930DB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00300"/>
            <a:ext cx="10810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A3A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172A3A"/>
                </a:solidFill>
                <a:latin typeface="Yu Gothic"/>
                <a:ea typeface="Yu Gothic"/>
                <a:cs typeface="Yu Gothic"/>
                <a:hlinkClick xmlns:r="http://schemas.openxmlformats.org/officeDocument/2006/relationships" r:id="R5380c4bb4c204a50"/>
              </a:rPr>
              <a:t>REST 0:00 / SOAP 1:29 / gRPC 2:49 / GraphQL 4:40 / RPC 11:16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1FC042-8551-4159-8E78-E4E58EBE4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62275"/>
            <a:ext cx="10810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26DA6"/>
                </a:solidFill>
                <a:latin typeface="Yu Gothic"/>
                <a:ea typeface="Yu Gothic"/>
                <a:cs typeface="Yu Gothic"/>
              </a:defRPr>
            </a:pPr>
            <a:r>
              <a:rPr sz="1950" b="0">
                <a:solidFill>
                  <a:srgbClr val="126DA6"/>
                </a:solidFill>
                <a:latin typeface="Yu Gothic"/>
                <a:ea typeface="Yu Gothic"/>
                <a:cs typeface="Yu Gothic"/>
                <a:hlinkClick xmlns:r="http://schemas.openxmlformats.org/officeDocument/2006/relationships" r:id="R261c4866080341d0"/>
              </a:rPr>
              <a:t>REST：Fielding博士論文 第5章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6E2A6D-53A7-4066-95E8-BC3117FA3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24250"/>
            <a:ext cx="10810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26DA6"/>
                </a:solidFill>
                <a:latin typeface="Yu Gothic"/>
                <a:ea typeface="Yu Gothic"/>
                <a:cs typeface="Yu Gothic"/>
              </a:defRPr>
            </a:pPr>
            <a:r>
              <a:rPr sz="1950" b="0">
                <a:solidFill>
                  <a:srgbClr val="126DA6"/>
                </a:solidFill>
                <a:latin typeface="Yu Gothic"/>
                <a:ea typeface="Yu Gothic"/>
                <a:cs typeface="Yu Gothic"/>
                <a:hlinkClick xmlns:r="http://schemas.openxmlformats.org/officeDocument/2006/relationships" r:id="R121adb4c87fb42f6"/>
              </a:rPr>
              <a:t>SOAP：W3C SOAP 1.2 Messaging Framework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2B1AE4-6B55-4319-8027-1D633BC9C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86225"/>
            <a:ext cx="10810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26DA6"/>
                </a:solidFill>
                <a:latin typeface="Yu Gothic"/>
                <a:ea typeface="Yu Gothic"/>
                <a:cs typeface="Yu Gothic"/>
              </a:defRPr>
            </a:pPr>
            <a:r>
              <a:rPr sz="1950" b="0">
                <a:solidFill>
                  <a:srgbClr val="126DA6"/>
                </a:solidFill>
                <a:latin typeface="Yu Gothic"/>
                <a:ea typeface="Yu Gothic"/>
                <a:cs typeface="Yu Gothic"/>
                <a:hlinkClick xmlns:r="http://schemas.openxmlformats.org/officeDocument/2006/relationships" r:id="R95dfc96f208045c4"/>
              </a:rPr>
              <a:t>GraphQL：Learn / Performance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4E6BAE-9FAB-4997-AF7C-867714F52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48200"/>
            <a:ext cx="10810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26DA6"/>
                </a:solidFill>
                <a:latin typeface="Yu Gothic"/>
                <a:ea typeface="Yu Gothic"/>
                <a:cs typeface="Yu Gothic"/>
              </a:defRPr>
            </a:pPr>
            <a:r>
              <a:rPr sz="1950" b="0">
                <a:solidFill>
                  <a:srgbClr val="126DA6"/>
                </a:solidFill>
                <a:latin typeface="Yu Gothic"/>
                <a:ea typeface="Yu Gothic"/>
                <a:cs typeface="Yu Gothic"/>
                <a:hlinkClick xmlns:r="http://schemas.openxmlformats.org/officeDocument/2006/relationships" r:id="R4a9304f683d74025"/>
              </a:rPr>
              <a:t>gRPC：Core concepts / Web basics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12B5F1-9D6A-44E8-ACBE-A24D4E28B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48325"/>
            <a:ext cx="10810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2A3A"/>
                </a:solidFill>
                <a:latin typeface="Yu Gothic"/>
                <a:ea typeface="Yu Gothic"/>
                <a:cs typeface="Yu Gothic"/>
              </a:defRPr>
            </a:pPr>
            <a:r>
              <a:rPr sz="1950" b="1">
                <a:solidFill>
                  <a:srgbClr val="172A3A"/>
                </a:solidFill>
                <a:latin typeface="Yu Gothic"/>
                <a:ea typeface="Yu Gothic"/>
                <a:cs typeface="Yu Gothic"/>
              </a:rPr>
              <a:t>復習：何を指定するか、どんな応答が返るか、何を追加設計するかを説明できる。</a:t>
            </a:r>
          </a:p>
        </p:txBody>
      </p:sp>
    </p:spTree>
    <p:extLst>
      <p:ext uri="{BB962C8B-B14F-4D97-AF65-F5344CB8AC3E}">
        <p14:creationId xmlns:p14="http://schemas.microsoft.com/office/powerpoint/2010/main" val="73643462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FD3653-4A28-43CE-B8D0-8935D4FEE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2A3A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72A3A"/>
                </a:solidFill>
                <a:latin typeface="Yu Gothic"/>
                <a:ea typeface="Yu Gothic"/>
                <a:cs typeface="Yu Gothic"/>
              </a:rPr>
              <a:t>最終比較表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602BF4-200E-4B9A-B4A4-CA4B151B6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52525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6575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526575"/>
                </a:solidFill>
                <a:latin typeface="Yu Gothic"/>
                <a:ea typeface="Yu Gothic"/>
                <a:cs typeface="Yu Gothic"/>
              </a:rPr>
              <a:t>用途に合う方式を選び、必要に応じて併用する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71A542-EF50-4886-8A74-5AB391EBB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055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26575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526575"/>
                </a:solidFill>
                <a:latin typeface="Yu Gothic"/>
                <a:ea typeface="Yu Gothic"/>
                <a:cs typeface="Yu Gothic"/>
              </a:rPr>
              <a:t>15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714500"/>
          <a:ext xmlns:a="http://schemas.openxmlformats.org/drawingml/2006/main" cx="10972800" cy="43148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62125"/>
                <a:gridCol w="2238375"/>
                <a:gridCol w="2238375"/>
                <a:gridCol w="2333625"/>
                <a:gridCol w="2400300"/>
              </a:tblGrid>
              <a:tr h="616404">
                <a:tc>
                  <a:txBody>
                    <a:bodyPr lIns="123825" tIns="95250" rIns="95250" bIns="95250"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比較軸</a:t>
                      </a:r>
                    </a:p>
                  </a:txBody>
                  <a:tcPr marL="91440" marR="91440" marT="45720" marB="45720" anchor="ctr">
                    <a:solidFill>
                      <a:srgbClr val="172A3A"/>
                    </a:solidFill>
                  </a:tcPr>
                </a:tc>
                <a:tc>
                  <a:txBody>
                    <a:bodyPr lIns="123825" tIns="95250" rIns="95250" bIns="95250"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REST</a:t>
                      </a:r>
                    </a:p>
                  </a:txBody>
                  <a:tcPr marL="91440" marR="91440" marT="45720" marB="45720" anchor="ctr">
                    <a:solidFill>
                      <a:srgbClr val="172A3A"/>
                    </a:solidFill>
                  </a:tcPr>
                </a:tc>
                <a:tc>
                  <a:txBody>
                    <a:bodyPr lIns="123825" tIns="95250" rIns="95250" bIns="95250"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SOAP</a:t>
                      </a:r>
                    </a:p>
                  </a:txBody>
                  <a:tcPr marL="91440" marR="91440" marT="45720" marB="45720" anchor="ctr">
                    <a:solidFill>
                      <a:srgbClr val="172A3A"/>
                    </a:solidFill>
                  </a:tcPr>
                </a:tc>
                <a:tc>
                  <a:txBody>
                    <a:bodyPr lIns="123825" tIns="95250" rIns="95250" bIns="95250"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GraphQL</a:t>
                      </a:r>
                    </a:p>
                  </a:txBody>
                  <a:tcPr marL="91440" marR="91440" marT="45720" marB="45720" anchor="ctr">
                    <a:solidFill>
                      <a:srgbClr val="172A3A"/>
                    </a:solidFill>
                  </a:tcPr>
                </a:tc>
                <a:tc>
                  <a:txBody>
                    <a:bodyPr lIns="123825" tIns="95250" rIns="95250" bIns="95250"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gRPC</a:t>
                      </a:r>
                    </a:p>
                  </a:txBody>
                  <a:tcPr marL="91440" marR="91440" marT="45720" marB="45720" anchor="ctr">
                    <a:solidFill>
                      <a:srgbClr val="172A3A"/>
                    </a:solidFill>
                  </a:tcPr>
                </a:tc>
              </a:tr>
              <a:tr h="616404">
                <a:tc>
                  <a:txBody>
                    <a:bodyPr lIns="123825" tIns="95250" rIns="95250" bIns="95250"/>
                    <a:lstStyle/>
                    <a:p>
                      <a:r>
                        <a:rPr sz="1650" b="1">
                          <a:solidFill>
                            <a:srgbClr val="172A3A"/>
                          </a:solidFill>
                          <a:latin typeface="Yu Gothic"/>
                          <a:ea typeface="Yu Gothic"/>
                          <a:cs typeface="Yu Gothic"/>
                        </a:rPr>
                        <a:t>設計の中心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95250" rIns="95250" bIns="95250"/>
                    <a:lstStyle/>
                    <a:p>
                      <a:r>
                        <a:rPr sz="1650" b="0">
                          <a:solidFill>
                            <a:srgbClr val="172A3A"/>
                          </a:solidFill>
                          <a:latin typeface="Yu Gothic"/>
                          <a:ea typeface="Yu Gothic"/>
                          <a:cs typeface="Yu Gothic"/>
                        </a:rPr>
                        <a:t>リソース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95250" rIns="95250" bIns="95250"/>
                    <a:lstStyle/>
                    <a:p>
                      <a:r>
                        <a:rPr sz="1650" b="0">
                          <a:solidFill>
                            <a:srgbClr val="172A3A"/>
                          </a:solidFill>
                          <a:latin typeface="Yu Gothic"/>
                          <a:ea typeface="Yu Gothic"/>
                          <a:cs typeface="Yu Gothic"/>
                        </a:rPr>
                        <a:t>XMLメッセージ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95250" rIns="95250" bIns="95250"/>
                    <a:lstStyle/>
                    <a:p>
                      <a:r>
                        <a:rPr sz="1650" b="0">
                          <a:solidFill>
                            <a:srgbClr val="172A3A"/>
                          </a:solidFill>
                          <a:latin typeface="Yu Gothic"/>
                          <a:ea typeface="Yu Gothic"/>
                          <a:cs typeface="Yu Gothic"/>
                        </a:rPr>
                        <a:t>フィールド選択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95250" rIns="95250" bIns="95250"/>
                    <a:lstStyle/>
                    <a:p>
                      <a:r>
                        <a:rPr sz="1650" b="0">
                          <a:solidFill>
                            <a:srgbClr val="172A3A"/>
                          </a:solidFill>
                          <a:latin typeface="Yu Gothic"/>
                          <a:ea typeface="Yu Gothic"/>
                          <a:cs typeface="Yu Gothic"/>
                        </a:rPr>
                        <a:t>メソッド呼び出し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6404">
                <a:tc>
                  <a:txBody>
                    <a:bodyPr lIns="123825" tIns="95250" rIns="95250" bIns="95250"/>
                    <a:lstStyle/>
                    <a:p>
                      <a:r>
                        <a:rPr sz="1650" b="1">
                          <a:solidFill>
                            <a:srgbClr val="172A3A"/>
                          </a:solidFill>
                          <a:latin typeface="Yu Gothic"/>
                          <a:ea typeface="Yu Gothic"/>
                          <a:cs typeface="Yu Gothic"/>
                        </a:rPr>
                        <a:t>主なデータ形式</a:t>
                      </a:r>
                    </a:p>
                  </a:txBody>
                  <a:tcPr marL="91440" marR="91440" marT="45720" marB="45720" anchor="ctr">
                    <a:solidFill>
                      <a:srgbClr val="EEF3F6"/>
                    </a:solidFill>
                  </a:tcPr>
                </a:tc>
                <a:tc>
                  <a:txBody>
                    <a:bodyPr lIns="123825" tIns="95250" rIns="95250" bIns="95250"/>
                    <a:lstStyle/>
                    <a:p>
                      <a:r>
                        <a:rPr sz="1650" b="0">
                          <a:solidFill>
                            <a:srgbClr val="172A3A"/>
                          </a:solidFill>
                          <a:latin typeface="Yu Gothic"/>
                          <a:ea typeface="Yu Gothic"/>
                          <a:cs typeface="Yu Gothic"/>
                        </a:rPr>
                        <a:t>JSONなど</a:t>
                      </a:r>
                    </a:p>
                  </a:txBody>
                  <a:tcPr marL="91440" marR="91440" marT="45720" marB="45720" anchor="ctr">
                    <a:solidFill>
                      <a:srgbClr val="EEF3F6"/>
                    </a:solidFill>
                  </a:tcPr>
                </a:tc>
                <a:tc>
                  <a:txBody>
                    <a:bodyPr lIns="123825" tIns="95250" rIns="95250" bIns="95250"/>
                    <a:lstStyle/>
                    <a:p>
                      <a:r>
                        <a:rPr sz="1650" b="0">
                          <a:solidFill>
                            <a:srgbClr val="172A3A"/>
                          </a:solidFill>
                          <a:latin typeface="Yu Gothic"/>
                          <a:ea typeface="Yu Gothic"/>
                          <a:cs typeface="Yu Gothic"/>
                        </a:rPr>
                        <a:t>XML</a:t>
                      </a:r>
                    </a:p>
                  </a:txBody>
                  <a:tcPr marL="91440" marR="91440" marT="45720" marB="45720" anchor="ctr">
                    <a:solidFill>
                      <a:srgbClr val="EEF3F6"/>
                    </a:solidFill>
                  </a:tcPr>
                </a:tc>
                <a:tc>
                  <a:txBody>
                    <a:bodyPr lIns="123825" tIns="95250" rIns="95250" bIns="95250"/>
                    <a:lstStyle/>
                    <a:p>
                      <a:r>
                        <a:rPr sz="1650" b="0">
                          <a:solidFill>
                            <a:srgbClr val="172A3A"/>
                          </a:solidFill>
                          <a:latin typeface="Yu Gothic"/>
                          <a:ea typeface="Yu Gothic"/>
                          <a:cs typeface="Yu Gothic"/>
                        </a:rPr>
                        <a:t>通常JSON応答</a:t>
                      </a:r>
                    </a:p>
                  </a:txBody>
                  <a:tcPr marL="91440" marR="91440" marT="45720" marB="45720" anchor="ctr">
                    <a:solidFill>
                      <a:srgbClr val="EEF3F6"/>
                    </a:solidFill>
                  </a:tcPr>
                </a:tc>
                <a:tc>
                  <a:txBody>
                    <a:bodyPr lIns="123825" tIns="95250" rIns="95250" bIns="95250"/>
                    <a:lstStyle/>
                    <a:p>
                      <a:r>
                        <a:rPr sz="1650" b="0">
                          <a:solidFill>
                            <a:srgbClr val="172A3A"/>
                          </a:solidFill>
                          <a:latin typeface="Yu Gothic"/>
                          <a:ea typeface="Yu Gothic"/>
                          <a:cs typeface="Yu Gothic"/>
                        </a:rPr>
                        <a:t>通常Protobuf</a:t>
                      </a:r>
                    </a:p>
                  </a:txBody>
                  <a:tcPr marL="91440" marR="91440" marT="45720" marB="45720" anchor="ctr">
                    <a:solidFill>
                      <a:srgbClr val="EEF3F6"/>
                    </a:solidFill>
                  </a:tcPr>
                </a:tc>
              </a:tr>
              <a:tr h="616404">
                <a:tc>
                  <a:txBody>
                    <a:bodyPr lIns="123825" tIns="95250" rIns="95250" bIns="95250"/>
                    <a:lstStyle/>
                    <a:p>
                      <a:r>
                        <a:rPr sz="1650" b="1">
                          <a:solidFill>
                            <a:srgbClr val="172A3A"/>
                          </a:solidFill>
                          <a:latin typeface="Yu Gothic"/>
                          <a:ea typeface="Yu Gothic"/>
                          <a:cs typeface="Yu Gothic"/>
                        </a:rPr>
                        <a:t>契約の表現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95250" rIns="95250" bIns="95250"/>
                    <a:lstStyle/>
                    <a:p>
                      <a:r>
                        <a:rPr sz="1650" b="0">
                          <a:solidFill>
                            <a:srgbClr val="172A3A"/>
                          </a:solidFill>
                          <a:latin typeface="Yu Gothic"/>
                          <a:ea typeface="Yu Gothic"/>
                          <a:cs typeface="Yu Gothic"/>
                        </a:rPr>
                        <a:t>OpenAPIなど</a:t>
                      </a:r>
                    </a:p>
                    <a:p>
                      <a:r>
                        <a:rPr sz="1650" b="0">
                          <a:solidFill>
                            <a:srgbClr val="172A3A"/>
                          </a:solidFill>
                          <a:latin typeface="Yu Gothic"/>
                          <a:ea typeface="Yu Gothic"/>
                          <a:cs typeface="Yu Gothic"/>
                        </a:rPr>
                        <a:t>別途利用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95250" rIns="95250" bIns="95250"/>
                    <a:lstStyle/>
                    <a:p>
                      <a:r>
                        <a:rPr sz="1650" b="0">
                          <a:solidFill>
                            <a:srgbClr val="172A3A"/>
                          </a:solidFill>
                          <a:latin typeface="Yu Gothic"/>
                          <a:ea typeface="Yu Gothic"/>
                          <a:cs typeface="Yu Gothic"/>
                        </a:rPr>
                        <a:t>WSDLを併用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95250" rIns="95250" bIns="95250"/>
                    <a:lstStyle/>
                    <a:p>
                      <a:r>
                        <a:rPr sz="1650" b="0">
                          <a:solidFill>
                            <a:srgbClr val="172A3A"/>
                          </a:solidFill>
                          <a:latin typeface="Yu Gothic"/>
                          <a:ea typeface="Yu Gothic"/>
                          <a:cs typeface="Yu Gothic"/>
                        </a:rPr>
                        <a:t>型付きスキーマ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95250" rIns="95250" bIns="95250"/>
                    <a:lstStyle/>
                    <a:p>
                      <a:r>
                        <a:rPr sz="1650" b="0">
                          <a:solidFill>
                            <a:srgbClr val="172A3A"/>
                          </a:solidFill>
                          <a:latin typeface="Yu Gothic"/>
                          <a:ea typeface="Yu Gothic"/>
                          <a:cs typeface="Yu Gothic"/>
                        </a:rPr>
                        <a:t>.proto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6404">
                <a:tc>
                  <a:txBody>
                    <a:bodyPr lIns="123825" tIns="95250" rIns="95250" bIns="95250"/>
                    <a:lstStyle/>
                    <a:p>
                      <a:r>
                        <a:rPr sz="1650" b="1">
                          <a:solidFill>
                            <a:srgbClr val="172A3A"/>
                          </a:solidFill>
                          <a:latin typeface="Yu Gothic"/>
                          <a:ea typeface="Yu Gothic"/>
                          <a:cs typeface="Yu Gothic"/>
                        </a:rPr>
                        <a:t>通信の基本</a:t>
                      </a:r>
                    </a:p>
                  </a:txBody>
                  <a:tcPr marL="91440" marR="91440" marT="45720" marB="45720" anchor="ctr">
                    <a:solidFill>
                      <a:srgbClr val="EEF3F6"/>
                    </a:solidFill>
                  </a:tcPr>
                </a:tc>
                <a:tc>
                  <a:txBody>
                    <a:bodyPr lIns="123825" tIns="95250" rIns="95250" bIns="95250"/>
                    <a:lstStyle/>
                    <a:p>
                      <a:r>
                        <a:rPr sz="1650" b="0">
                          <a:solidFill>
                            <a:srgbClr val="172A3A"/>
                          </a:solidFill>
                          <a:latin typeface="Yu Gothic"/>
                          <a:ea typeface="Yu Gothic"/>
                          <a:cs typeface="Yu Gothic"/>
                        </a:rPr>
                        <a:t>要求／応答</a:t>
                      </a:r>
                    </a:p>
                  </a:txBody>
                  <a:tcPr marL="91440" marR="91440" marT="45720" marB="45720" anchor="ctr">
                    <a:solidFill>
                      <a:srgbClr val="EEF3F6"/>
                    </a:solidFill>
                  </a:tcPr>
                </a:tc>
                <a:tc>
                  <a:txBody>
                    <a:bodyPr lIns="123825" tIns="95250" rIns="95250" bIns="95250"/>
                    <a:lstStyle/>
                    <a:p>
                      <a:r>
                        <a:rPr sz="1650" b="0">
                          <a:solidFill>
                            <a:srgbClr val="172A3A"/>
                          </a:solidFill>
                          <a:latin typeface="Yu Gothic"/>
                          <a:ea typeface="Yu Gothic"/>
                          <a:cs typeface="Yu Gothic"/>
                        </a:rPr>
                        <a:t>要求／応答など</a:t>
                      </a:r>
                    </a:p>
                  </a:txBody>
                  <a:tcPr marL="91440" marR="91440" marT="45720" marB="45720" anchor="ctr">
                    <a:solidFill>
                      <a:srgbClr val="EEF3F6"/>
                    </a:solidFill>
                  </a:tcPr>
                </a:tc>
                <a:tc>
                  <a:txBody>
                    <a:bodyPr lIns="123825" tIns="95250" rIns="95250" bIns="95250"/>
                    <a:lstStyle/>
                    <a:p>
                      <a:r>
                        <a:rPr sz="1650" b="0">
                          <a:solidFill>
                            <a:srgbClr val="172A3A"/>
                          </a:solidFill>
                          <a:latin typeface="Yu Gothic"/>
                          <a:ea typeface="Yu Gothic"/>
                          <a:cs typeface="Yu Gothic"/>
                        </a:rPr>
                        <a:t>Query / Mutation</a:t>
                      </a:r>
                    </a:p>
                    <a:p>
                      <a:r>
                        <a:rPr sz="1650" b="0">
                          <a:solidFill>
                            <a:srgbClr val="172A3A"/>
                          </a:solidFill>
                          <a:latin typeface="Yu Gothic"/>
                          <a:ea typeface="Yu Gothic"/>
                          <a:cs typeface="Yu Gothic"/>
                        </a:rPr>
                        <a:t>Subscription</a:t>
                      </a:r>
                    </a:p>
                  </a:txBody>
                  <a:tcPr marL="91440" marR="91440" marT="45720" marB="45720" anchor="ctr">
                    <a:solidFill>
                      <a:srgbClr val="EEF3F6"/>
                    </a:solidFill>
                  </a:tcPr>
                </a:tc>
                <a:tc>
                  <a:txBody>
                    <a:bodyPr lIns="123825" tIns="95250" rIns="95250" bIns="95250"/>
                    <a:lstStyle/>
                    <a:p>
                      <a:r>
                        <a:rPr sz="1650" b="0">
                          <a:solidFill>
                            <a:srgbClr val="172A3A"/>
                          </a:solidFill>
                          <a:latin typeface="Yu Gothic"/>
                          <a:ea typeface="Yu Gothic"/>
                          <a:cs typeface="Yu Gothic"/>
                        </a:rPr>
                        <a:t>Unary +</a:t>
                      </a:r>
                    </a:p>
                    <a:p>
                      <a:r>
                        <a:rPr sz="1650" b="0">
                          <a:solidFill>
                            <a:srgbClr val="172A3A"/>
                          </a:solidFill>
                          <a:latin typeface="Yu Gothic"/>
                          <a:ea typeface="Yu Gothic"/>
                          <a:cs typeface="Yu Gothic"/>
                        </a:rPr>
                        <a:t>3種のStreaming</a:t>
                      </a:r>
                    </a:p>
                  </a:txBody>
                  <a:tcPr marL="91440" marR="91440" marT="45720" marB="45720" anchor="ctr">
                    <a:solidFill>
                      <a:srgbClr val="EEF3F6"/>
                    </a:solidFill>
                  </a:tcPr>
                </a:tc>
              </a:tr>
              <a:tr h="616404">
                <a:tc>
                  <a:txBody>
                    <a:bodyPr lIns="123825" tIns="95250" rIns="95250" bIns="95250"/>
                    <a:lstStyle/>
                    <a:p>
                      <a:r>
                        <a:rPr sz="1650" b="1">
                          <a:solidFill>
                            <a:srgbClr val="172A3A"/>
                          </a:solidFill>
                          <a:latin typeface="Yu Gothic"/>
                          <a:ea typeface="Yu Gothic"/>
                          <a:cs typeface="Yu Gothic"/>
                        </a:rPr>
                        <a:t>向く用途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95250" rIns="95250" bIns="95250"/>
                    <a:lstStyle/>
                    <a:p>
                      <a:r>
                        <a:rPr sz="1650" b="0">
                          <a:solidFill>
                            <a:srgbClr val="172A3A"/>
                          </a:solidFill>
                          <a:latin typeface="Yu Gothic"/>
                          <a:ea typeface="Yu Gothic"/>
                          <a:cs typeface="Yu Gothic"/>
                        </a:rPr>
                        <a:t>公開・Web API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95250" rIns="95250" bIns="95250"/>
                    <a:lstStyle/>
                    <a:p>
                      <a:r>
                        <a:rPr sz="1650" b="0">
                          <a:solidFill>
                            <a:srgbClr val="172A3A"/>
                          </a:solidFill>
                          <a:latin typeface="Yu Gothic"/>
                          <a:ea typeface="Yu Gothic"/>
                          <a:cs typeface="Yu Gothic"/>
                        </a:rPr>
                        <a:t>既存の企業連携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95250" rIns="95250" bIns="95250"/>
                    <a:lstStyle/>
                    <a:p>
                      <a:r>
                        <a:rPr sz="1650" b="0">
                          <a:solidFill>
                            <a:srgbClr val="172A3A"/>
                          </a:solidFill>
                          <a:latin typeface="Yu Gothic"/>
                          <a:ea typeface="Yu Gothic"/>
                          <a:cs typeface="Yu Gothic"/>
                        </a:rPr>
                        <a:t>複雑な画面の取得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95250" rIns="95250" bIns="95250"/>
                    <a:lstStyle/>
                    <a:p>
                      <a:r>
                        <a:rPr sz="1650" b="0">
                          <a:solidFill>
                            <a:srgbClr val="172A3A"/>
                          </a:solidFill>
                          <a:latin typeface="Yu Gothic"/>
                          <a:ea typeface="Yu Gothic"/>
                          <a:cs typeface="Yu Gothic"/>
                        </a:rPr>
                        <a:t>内部サービス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6404">
                <a:tc>
                  <a:txBody>
                    <a:bodyPr lIns="123825" tIns="95250" rIns="95250" bIns="95250"/>
                    <a:lstStyle/>
                    <a:p>
                      <a:r>
                        <a:rPr sz="1650" b="1">
                          <a:solidFill>
                            <a:srgbClr val="172A3A"/>
                          </a:solidFill>
                          <a:latin typeface="Yu Gothic"/>
                          <a:ea typeface="Yu Gothic"/>
                          <a:cs typeface="Yu Gothic"/>
                        </a:rPr>
                        <a:t>主な注意点</a:t>
                      </a:r>
                    </a:p>
                  </a:txBody>
                  <a:tcPr marL="91440" marR="91440" marT="45720" marB="45720" anchor="ctr">
                    <a:solidFill>
                      <a:srgbClr val="EEF3F6"/>
                    </a:solidFill>
                  </a:tcPr>
                </a:tc>
                <a:tc>
                  <a:txBody>
                    <a:bodyPr lIns="123825" tIns="95250" rIns="95250" bIns="95250"/>
                    <a:lstStyle/>
                    <a:p>
                      <a:r>
                        <a:rPr sz="1650" b="0">
                          <a:solidFill>
                            <a:srgbClr val="172A3A"/>
                          </a:solidFill>
                          <a:latin typeface="Yu Gothic"/>
                          <a:ea typeface="Yu Gothic"/>
                          <a:cs typeface="Yu Gothic"/>
                        </a:rPr>
                        <a:t>取得過多・不足</a:t>
                      </a:r>
                    </a:p>
                  </a:txBody>
                  <a:tcPr marL="91440" marR="91440" marT="45720" marB="45720" anchor="ctr">
                    <a:solidFill>
                      <a:srgbClr val="EEF3F6"/>
                    </a:solidFill>
                  </a:tcPr>
                </a:tc>
                <a:tc>
                  <a:txBody>
                    <a:bodyPr lIns="123825" tIns="95250" rIns="95250" bIns="95250"/>
                    <a:lstStyle/>
                    <a:p>
                      <a:r>
                        <a:rPr sz="1650" b="0">
                          <a:solidFill>
                            <a:srgbClr val="172A3A"/>
                          </a:solidFill>
                          <a:latin typeface="Yu Gothic"/>
                          <a:ea typeface="Yu Gothic"/>
                          <a:cs typeface="Yu Gothic"/>
                        </a:rPr>
                        <a:t>仕様・処理の複雑さ</a:t>
                      </a:r>
                    </a:p>
                  </a:txBody>
                  <a:tcPr marL="91440" marR="91440" marT="45720" marB="45720" anchor="ctr">
                    <a:solidFill>
                      <a:srgbClr val="EEF3F6"/>
                    </a:solidFill>
                  </a:tcPr>
                </a:tc>
                <a:tc>
                  <a:txBody>
                    <a:bodyPr lIns="123825" tIns="95250" rIns="95250" bIns="95250"/>
                    <a:lstStyle/>
                    <a:p>
                      <a:r>
                        <a:rPr sz="1650" b="0">
                          <a:solidFill>
                            <a:srgbClr val="172A3A"/>
                          </a:solidFill>
                          <a:latin typeface="Yu Gothic"/>
                          <a:ea typeface="Yu Gothic"/>
                          <a:cs typeface="Yu Gothic"/>
                        </a:rPr>
                        <a:t>負荷・認可・N+1</a:t>
                      </a:r>
                    </a:p>
                  </a:txBody>
                  <a:tcPr marL="91440" marR="91440" marT="45720" marB="45720" anchor="ctr">
                    <a:solidFill>
                      <a:srgbClr val="EEF3F6"/>
                    </a:solidFill>
                  </a:tcPr>
                </a:tc>
                <a:tc>
                  <a:txBody>
                    <a:bodyPr lIns="123825" tIns="95250" rIns="95250" bIns="95250"/>
                    <a:lstStyle/>
                    <a:p>
                      <a:r>
                        <a:rPr sz="1650" b="0">
                          <a:solidFill>
                            <a:srgbClr val="172A3A"/>
                          </a:solidFill>
                          <a:latin typeface="Yu Gothic"/>
                          <a:ea typeface="Yu Gothic"/>
                          <a:cs typeface="Yu Gothic"/>
                        </a:rPr>
                        <a:t>ブラウザー対応</a:t>
                      </a:r>
                    </a:p>
                  </a:txBody>
                  <a:tcPr marL="91440" marR="91440" marT="45720" marB="45720" anchor="ctr">
                    <a:solidFill>
                      <a:srgbClr val="EEF3F6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1E4315-457D-43CF-A0AB-D391798E6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172200"/>
            <a:ext cx="10525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26575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526575"/>
                </a:solidFill>
                <a:latin typeface="Yu Gothic"/>
                <a:ea typeface="Yu Gothic"/>
                <a:cs typeface="Yu Gothic"/>
              </a:rPr>
              <a:t>性能・安全性・信頼性は、方式だけでなく実装と運用に依存する。</a:t>
            </a:r>
          </a:p>
        </p:txBody>
      </p:sp>
    </p:spTree>
    <p:extLst>
      <p:ext uri="{BB962C8B-B14F-4D97-AF65-F5344CB8AC3E}">
        <p14:creationId xmlns:p14="http://schemas.microsoft.com/office/powerpoint/2010/main" val="5449392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2026-09-29T15:29:23.8200000Z</dcterms:created>
  <dcterms:modified xsi:type="dcterms:W3CDTF">2026-09-29T15:29:23.8200000Z</dcterms:modified>
</coreProperties>
</file>