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0691813" cy="7559675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109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動画の英語自動字幕を基に、ユーザー提供文を加えて再構成。図は概念図。</a:t>
            </a:r>
          </a:p>
          <a:p>
            <a:r>
              <a:t>https://www.youtube.com/watch?v=VQyPVCT2Kl8</a:t>
            </a:r>
          </a:p>
          <a:p>
            <a:r>
              <a:t>対象区間 REST 0:00–1:29、SOAP 1:29–2:49、gRPC 2:49–4:40、GraphQL 4:40–6:11。</a:t>
            </a:r>
          </a:p>
          <a:p>
            <a:r>
              <a:t>https://ics.uci.edu/~fielding/pubs/dissertation/rest_arch_style.htm</a:t>
            </a:r>
          </a:p>
          <a:p>
            <a:r>
              <a:t>https://www.w3.org/TR/soap12-part1/</a:t>
            </a:r>
          </a:p>
          <a:p>
            <a:r>
              <a:t>https://graphql.org/learn/</a:t>
            </a:r>
          </a:p>
          <a:p>
            <a:r>
              <a:t>https://grpc.io/docs/what-is-grpc/core-concepts/</a:t>
            </a:r>
          </a:p>
          <a:p>
            <a:r>
              <a:t>RESTはHTTP+JSONに限定される仕様ではない。図は典型的なWeb API。RESTでも項目指定・集約を設計できる。SOAPの信頼性や安全性は拡張仕様と実装に依存する。GraphQL Subscriptionには通信基盤が別途必要。gRPCの速度倍率は一律ではない。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動画とユーザー提供文の要点を整理。</a:t>
            </a:r>
          </a:p>
          <a:p>
            <a:r>
              <a:t>https://www.youtube.com/watch?v=VQyPVCT2Kl8</a:t>
            </a:r>
          </a:p>
          <a:p>
            <a:r>
              <a:t>対象区間 Webhook 6:11–7:30、WebSocket 7:30–8:31、MQTT 13:31–14:29、Apache Kafka 16:39–17:18。</a:t>
            </a:r>
          </a:p>
          <a:p>
            <a:r>
              <a:t>https://www.rfc-editor.org/rfc/rfc6455</a:t>
            </a:r>
          </a:p>
          <a:p>
            <a:r>
              <a:t>https://docs.github.com/en/webhooks/about-webhooks</a:t>
            </a:r>
          </a:p>
          <a:p>
            <a:r>
              <a:t>https://mqtt.org/</a:t>
            </a:r>
          </a:p>
          <a:p>
            <a:r>
              <a:t>https://kafka.apache.org/intro/</a:t>
            </a:r>
          </a:p>
          <a:p>
            <a:r>
              <a:t>補正: 通常のHTTPも接続を再利用できるため、RESTが毎回TCP接続を作り直すとは説明していない。MQTTのペイロードは任意バイト列で、バイナリの業務データに限定しない。QoSやセッション設定に応じて配送特性が異なる。Kafkaは単なる通信プロトコルではなく分散イベント基盤。保持は設定に依存する。コンシューマーグループごとの読み取りにより独立利用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出典: Codist動画、自動字幕、ユーザー提供文、および各公式資料。</a:t>
            </a:r>
          </a:p>
          <a:p>
            <a:r>
              <a:t>https://www.youtube.com/watch?v=VQyPVCT2Kl8</a:t>
            </a:r>
          </a:p>
          <a:p>
            <a:r>
              <a:t>https://ics.uci.edu/~fielding/pubs/dissertation/rest_arch_style.htm</a:t>
            </a:r>
          </a:p>
          <a:p>
            <a:r>
              <a:t>https://www.w3.org/TR/soap12-part1/</a:t>
            </a:r>
          </a:p>
          <a:p>
            <a:r>
              <a:t>https://graphql.org/learn/</a:t>
            </a:r>
          </a:p>
          <a:p>
            <a:r>
              <a:t>https://grpc.io/docs/what-is-grpc/core-concepts/</a:t>
            </a:r>
          </a:p>
          <a:p>
            <a:r>
              <a:t>https://www.rfc-editor.org/rfc/rfc6455</a:t>
            </a:r>
          </a:p>
          <a:p>
            <a:r>
              <a:t>https://docs.github.com/en/webhooks/about-webhooks</a:t>
            </a:r>
          </a:p>
          <a:p>
            <a:r>
              <a:t>https://mqtt.org/</a:t>
            </a:r>
          </a:p>
          <a:p>
            <a:r>
              <a:t>https://kafka.apache.org/intro/</a:t>
            </a:r>
          </a:p>
          <a:p>
            <a:r>
              <a:t>表は主な特性を比較したもの。方式の分類は同一ではない。RESTは設計スタイル、GraphQLはクエリ言語・実行仕様、gRPCはRPCフレームワーク、SOAP・WebSocket・MQTTはプロトコル、Webhookは通知パターン、Kafkaは分散イベントストリーミング基盤。セキュリティ、性能、信頼性は実装と運用に依存。</a:t>
            </a:r>
          </a:p>
          <a:p>
            <a:r>
              <a:t>補足: GraphQLはSubscriptionにも対応するが通信の実装が必要。gRPCはUnary・Server streaming・Client streaming・Bidirectional streamingの4パターンに対応。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0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C9D92C2D-2219-446D-8878-A84E4596FA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692000" cy="1085850"/>
          </a:xfrm>
          <a:prstGeom prst="rect">
            <a:avLst/>
          </a:prstGeom>
          <a:solidFill>
            <a:srgbClr val="1733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17334A"/>
                </a:solidFill>
                <a:latin typeface="Yu Gothic"/>
                <a:ea typeface="Yu Gothic"/>
                <a:cs typeface="Yu Gothic"/>
              </a:defRPr>
            </a:pPr>
            <a:endParaRPr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A0B871C-FE44-4178-A211-71D6810D1376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990600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API</a:t>
            </a:r>
            <a:r>
              <a:rPr>
                <a:latin typeface="Yu Gothic"/>
                <a:ea typeface="Yu Gothic"/>
                <a:cs typeface="Yu Gothic"/>
              </a:rPr>
              <a:t>通信の基本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7DB4C23-1633-4C46-928F-7F267B787CB4}"/>
              </a:ext>
            </a:extLst>
          </p:cNvPr>
          <p:cNvSpPr>
            <a:spLocks noGrp="1"/>
          </p:cNvSpPr>
          <p:nvPr/>
        </p:nvSpPr>
        <p:spPr>
          <a:xfrm>
            <a:off x="419100" y="752475"/>
            <a:ext cx="98107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0">
                <a:solidFill>
                  <a:srgbClr val="CBD6DF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要求・応答の</a:t>
            </a:r>
            <a:r>
              <a:rPr>
                <a:latin typeface="Cambria"/>
                <a:ea typeface="Cambria"/>
                <a:cs typeface="Cambria"/>
              </a:rPr>
              <a:t>4</a:t>
            </a:r>
            <a:r>
              <a:rPr>
                <a:latin typeface="Yu Gothic"/>
                <a:ea typeface="Yu Gothic"/>
                <a:cs typeface="Yu Gothic"/>
              </a:rPr>
              <a:t>方式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7A8552F-7866-47B8-9637-A86DE1B08028}"/>
              </a:ext>
            </a:extLst>
          </p:cNvPr>
          <p:cNvSpPr>
            <a:spLocks noGrp="1"/>
          </p:cNvSpPr>
          <p:nvPr/>
        </p:nvSpPr>
        <p:spPr>
          <a:xfrm>
            <a:off x="9696450" y="7239000"/>
            <a:ext cx="609600" cy="200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00" b="0">
                <a:solidFill>
                  <a:srgbClr val="6B7E8C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1 / 3</a:t>
            </a:r>
          </a:p>
        </p:txBody>
      </p:sp>
      <p:sp>
        <p:nvSpPr>
          <p:cNvPr id="5" name="直線コネクタ 4">
            <a:extLst>
              <a:ext uri="{FF2B5EF4-FFF2-40B4-BE49-F238E27FC236}">
                <a16:creationId xmlns:a16="http://schemas.microsoft.com/office/drawing/2014/main" id="{9576F0F1-3AE2-4F49-A2C3-F41274FF7AFA}"/>
              </a:ext>
            </a:extLst>
          </p:cNvPr>
          <p:cNvSpPr>
            <a:spLocks noGrp="1"/>
          </p:cNvSpPr>
          <p:nvPr/>
        </p:nvSpPr>
        <p:spPr>
          <a:xfrm>
            <a:off x="5343525" y="1266825"/>
            <a:ext cx="0" cy="5695950"/>
          </a:xfrm>
          <a:prstGeom prst="line">
            <a:avLst/>
          </a:prstGeom>
          <a:noFill/>
          <a:ln w="9525">
            <a:solidFill>
              <a:srgbClr val="D8E1E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直線コネクタ 5">
            <a:extLst>
              <a:ext uri="{FF2B5EF4-FFF2-40B4-BE49-F238E27FC236}">
                <a16:creationId xmlns:a16="http://schemas.microsoft.com/office/drawing/2014/main" id="{3338F10B-B218-46F3-8FF2-C2B9F94DC369}"/>
              </a:ext>
            </a:extLst>
          </p:cNvPr>
          <p:cNvSpPr>
            <a:spLocks noGrp="1"/>
          </p:cNvSpPr>
          <p:nvPr/>
        </p:nvSpPr>
        <p:spPr>
          <a:xfrm>
            <a:off x="409575" y="4067175"/>
            <a:ext cx="9886950" cy="0"/>
          </a:xfrm>
          <a:prstGeom prst="line">
            <a:avLst/>
          </a:prstGeom>
          <a:noFill/>
          <a:ln w="9525">
            <a:solidFill>
              <a:srgbClr val="D8E1E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6DCCBD0-874F-4165-A450-4FF2455B4CA2}"/>
              </a:ext>
            </a:extLst>
          </p:cNvPr>
          <p:cNvSpPr>
            <a:spLocks noGrp="1"/>
          </p:cNvSpPr>
          <p:nvPr/>
        </p:nvSpPr>
        <p:spPr>
          <a:xfrm>
            <a:off x="419100" y="1304925"/>
            <a:ext cx="46482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REST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934CC80-2406-4104-943C-68E2C3ED50A4}"/>
              </a:ext>
            </a:extLst>
          </p:cNvPr>
          <p:cNvSpPr>
            <a:spLocks noGrp="1"/>
          </p:cNvSpPr>
          <p:nvPr/>
        </p:nvSpPr>
        <p:spPr>
          <a:xfrm>
            <a:off x="419100" y="1733550"/>
            <a:ext cx="46482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17334A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リソースを指定して取得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874BBA7F-4AAB-48D0-8279-17B3DFF10358}"/>
              </a:ext>
            </a:extLst>
          </p:cNvPr>
          <p:cNvSpPr>
            <a:spLocks noGrp="1"/>
          </p:cNvSpPr>
          <p:nvPr/>
        </p:nvSpPr>
        <p:spPr>
          <a:xfrm>
            <a:off x="447675" y="2324100"/>
            <a:ext cx="933450" cy="1000125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9050">
            <a:solidFill>
              <a:srgbClr val="25475E"/>
            </a:solidFill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50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アプリ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4FFB311D-6D6C-4C1F-A427-5D22C7465D04}"/>
              </a:ext>
            </a:extLst>
          </p:cNvPr>
          <p:cNvSpPr>
            <a:spLocks noGrp="1"/>
          </p:cNvSpPr>
          <p:nvPr/>
        </p:nvSpPr>
        <p:spPr>
          <a:xfrm>
            <a:off x="4133850" y="2324100"/>
            <a:ext cx="971550" cy="1000125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9050">
            <a:solidFill>
              <a:srgbClr val="25475E"/>
            </a:solidFill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50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API</a:t>
            </a:r>
          </a:p>
          <a:p>
            <a:pPr algn="ctr">
              <a:defRPr sz="150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サーバー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7A82486-C30A-4A29-9888-B3009E4AF88A}"/>
              </a:ext>
            </a:extLst>
          </p:cNvPr>
          <p:cNvSpPr>
            <a:spLocks noGrp="1"/>
          </p:cNvSpPr>
          <p:nvPr/>
        </p:nvSpPr>
        <p:spPr>
          <a:xfrm>
            <a:off x="1404938" y="25098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0BEED0B-8AD3-47B0-A56E-417B974D58B4}"/>
              </a:ext>
            </a:extLst>
          </p:cNvPr>
          <p:cNvSpPr>
            <a:spLocks noGrp="1"/>
          </p:cNvSpPr>
          <p:nvPr/>
        </p:nvSpPr>
        <p:spPr>
          <a:xfrm>
            <a:off x="4090988" y="25098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77" name="直線矢印コネクタ 76"/>
          <p:cNvCxnSpPr>
            <a:stCxn id="11" idx="3"/>
            <a:endCxn id="12" idx="1"/>
          </p:cNvCxnSpPr>
          <p:nvPr/>
        </p:nvCxnSpPr>
        <p:spPr>
          <a:xfrm>
            <a:off x="1414463" y="2514601"/>
            <a:ext cx="2676525" cy="0"/>
          </a:xfrm>
          <a:prstGeom prst="straightConnector1">
            <a:avLst/>
          </a:prstGeom>
          <a:ln w="22860">
            <a:solidFill>
              <a:srgbClr val="25475E"/>
            </a:solidFill>
            <a:prstDash val="solid"/>
            <a:tailEnd type="triangle" w="med" len="med"/>
          </a:ln>
        </p:spPr>
      </p:cxn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16F1D14-A35C-4485-BB13-DFACC8783CDA}"/>
              </a:ext>
            </a:extLst>
          </p:cNvPr>
          <p:cNvSpPr>
            <a:spLocks noGrp="1"/>
          </p:cNvSpPr>
          <p:nvPr/>
        </p:nvSpPr>
        <p:spPr>
          <a:xfrm>
            <a:off x="4090988" y="31099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B9C9EAA-E920-481C-B0F8-EDD568CACD30}"/>
              </a:ext>
            </a:extLst>
          </p:cNvPr>
          <p:cNvSpPr>
            <a:spLocks noGrp="1"/>
          </p:cNvSpPr>
          <p:nvPr/>
        </p:nvSpPr>
        <p:spPr>
          <a:xfrm>
            <a:off x="1404938" y="31099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80" name="直線矢印コネクタ 79"/>
          <p:cNvCxnSpPr>
            <a:stCxn id="14" idx="1"/>
            <a:endCxn id="15" idx="3"/>
          </p:cNvCxnSpPr>
          <p:nvPr/>
        </p:nvCxnSpPr>
        <p:spPr>
          <a:xfrm flipH="1">
            <a:off x="1414463" y="3114676"/>
            <a:ext cx="2676525" cy="0"/>
          </a:xfrm>
          <a:prstGeom prst="straightConnector1">
            <a:avLst/>
          </a:prstGeom>
          <a:ln w="22860">
            <a:solidFill>
              <a:srgbClr val="25475E"/>
            </a:solidFill>
            <a:prstDash val="solid"/>
            <a:tailEnd type="triangle" w="med" len="med"/>
          </a:ln>
        </p:spPr>
      </p:cxn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040F2A2-E46F-4B26-B277-6A3FF3FB96B6}"/>
              </a:ext>
            </a:extLst>
          </p:cNvPr>
          <p:cNvSpPr>
            <a:spLocks noGrp="1"/>
          </p:cNvSpPr>
          <p:nvPr/>
        </p:nvSpPr>
        <p:spPr>
          <a:xfrm>
            <a:off x="1533525" y="2228850"/>
            <a:ext cx="24765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50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GET /users/123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EFA3CD6-7B52-4054-9439-40B277A6322D}"/>
              </a:ext>
            </a:extLst>
          </p:cNvPr>
          <p:cNvSpPr>
            <a:spLocks noGrp="1"/>
          </p:cNvSpPr>
          <p:nvPr/>
        </p:nvSpPr>
        <p:spPr>
          <a:xfrm>
            <a:off x="1533525" y="2809875"/>
            <a:ext cx="24765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50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JSON</a:t>
            </a:r>
            <a:r>
              <a:rPr>
                <a:latin typeface="Yu Gothic"/>
                <a:ea typeface="Yu Gothic"/>
                <a:cs typeface="Yu Gothic"/>
              </a:rPr>
              <a:t>など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3E21D37-2987-4261-AFD9-8D0E0A9FAEB2}"/>
              </a:ext>
            </a:extLst>
          </p:cNvPr>
          <p:cNvSpPr>
            <a:spLocks noGrp="1"/>
          </p:cNvSpPr>
          <p:nvPr/>
        </p:nvSpPr>
        <p:spPr>
          <a:xfrm>
            <a:off x="419100" y="3581400"/>
            <a:ext cx="4705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778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用途：公開</a:t>
            </a:r>
            <a:r>
              <a:rPr>
                <a:latin typeface="Cambria"/>
                <a:ea typeface="Cambria"/>
                <a:cs typeface="Cambria"/>
              </a:rPr>
              <a:t>API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B737748-3663-47B6-8236-093A549CA92D}"/>
              </a:ext>
            </a:extLst>
          </p:cNvPr>
          <p:cNvSpPr>
            <a:spLocks noGrp="1"/>
          </p:cNvSpPr>
          <p:nvPr/>
        </p:nvSpPr>
        <p:spPr>
          <a:xfrm>
            <a:off x="5600700" y="1304925"/>
            <a:ext cx="46482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SOAP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3327B4D2-4921-4482-8353-86C8FE371D94}"/>
              </a:ext>
            </a:extLst>
          </p:cNvPr>
          <p:cNvSpPr>
            <a:spLocks noGrp="1"/>
          </p:cNvSpPr>
          <p:nvPr/>
        </p:nvSpPr>
        <p:spPr>
          <a:xfrm>
            <a:off x="5600700" y="1733550"/>
            <a:ext cx="46482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17334A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XML</a:t>
            </a:r>
            <a:r>
              <a:rPr>
                <a:latin typeface="Yu Gothic"/>
                <a:ea typeface="Yu Gothic"/>
                <a:cs typeface="Yu Gothic"/>
              </a:rPr>
              <a:t>と契約に沿って連携</a:t>
            </a: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9B006981-9329-4949-AEA1-6C72B01AD7F6}"/>
              </a:ext>
            </a:extLst>
          </p:cNvPr>
          <p:cNvSpPr>
            <a:spLocks noGrp="1"/>
          </p:cNvSpPr>
          <p:nvPr/>
        </p:nvSpPr>
        <p:spPr>
          <a:xfrm>
            <a:off x="5600700" y="2466975"/>
            <a:ext cx="809625" cy="86677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25475E"/>
            </a:solidFill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50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アプリ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0E990AA-EAB4-4AA4-AA5A-86E938F1D0F7}"/>
              </a:ext>
            </a:extLst>
          </p:cNvPr>
          <p:cNvSpPr>
            <a:spLocks noGrp="1"/>
          </p:cNvSpPr>
          <p:nvPr/>
        </p:nvSpPr>
        <p:spPr>
          <a:xfrm>
            <a:off x="6915150" y="2305050"/>
            <a:ext cx="211455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475E"/>
            </a:solidFill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425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XML</a:t>
            </a:r>
          </a:p>
          <a:p>
            <a:pPr algn="ctr">
              <a:defRPr sz="1425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Envelope</a:t>
            </a: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B85F0D2B-E785-45E5-B136-9FF9CDDE765F}"/>
              </a:ext>
            </a:extLst>
          </p:cNvPr>
          <p:cNvSpPr>
            <a:spLocks noGrp="1"/>
          </p:cNvSpPr>
          <p:nvPr/>
        </p:nvSpPr>
        <p:spPr>
          <a:xfrm>
            <a:off x="9505950" y="2466975"/>
            <a:ext cx="809625" cy="86677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25475E"/>
            </a:solidFill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425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業務</a:t>
            </a:r>
          </a:p>
          <a:p>
            <a:pPr algn="ctr">
              <a:defRPr sz="1425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API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3DFF71AC-48FE-4B0B-9802-6447701376AA}"/>
              </a:ext>
            </a:extLst>
          </p:cNvPr>
          <p:cNvSpPr>
            <a:spLocks noGrp="1"/>
          </p:cNvSpPr>
          <p:nvPr/>
        </p:nvSpPr>
        <p:spPr>
          <a:xfrm>
            <a:off x="6443663" y="26717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3A4F9D9-B35D-486E-AB3F-1EF5ADE4B161}"/>
              </a:ext>
            </a:extLst>
          </p:cNvPr>
          <p:cNvSpPr>
            <a:spLocks noGrp="1"/>
          </p:cNvSpPr>
          <p:nvPr/>
        </p:nvSpPr>
        <p:spPr>
          <a:xfrm>
            <a:off x="6872288" y="26717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91" name="直線矢印コネクタ 90"/>
          <p:cNvCxnSpPr>
            <a:stCxn id="25" idx="3"/>
            <a:endCxn id="26" idx="1"/>
          </p:cNvCxnSpPr>
          <p:nvPr/>
        </p:nvCxnSpPr>
        <p:spPr>
          <a:xfrm>
            <a:off x="6453188" y="2676526"/>
            <a:ext cx="419100" cy="0"/>
          </a:xfrm>
          <a:prstGeom prst="straightConnector1">
            <a:avLst/>
          </a:prstGeom>
          <a:ln w="22860">
            <a:solidFill>
              <a:srgbClr val="25475E"/>
            </a:solidFill>
            <a:prstDash val="solid"/>
            <a:tailEnd type="triangle" w="med" len="med"/>
          </a:ln>
        </p:spPr>
      </p:cxn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7B7C44C3-E06A-4E33-8A48-A8E1B630EACD}"/>
              </a:ext>
            </a:extLst>
          </p:cNvPr>
          <p:cNvSpPr>
            <a:spLocks noGrp="1"/>
          </p:cNvSpPr>
          <p:nvPr/>
        </p:nvSpPr>
        <p:spPr>
          <a:xfrm>
            <a:off x="6872288" y="31194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9ED262D5-2CAE-42E3-AA6A-E3A26F4CD7C4}"/>
              </a:ext>
            </a:extLst>
          </p:cNvPr>
          <p:cNvSpPr>
            <a:spLocks noGrp="1"/>
          </p:cNvSpPr>
          <p:nvPr/>
        </p:nvSpPr>
        <p:spPr>
          <a:xfrm>
            <a:off x="6443663" y="31194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94" name="直線矢印コネクタ 93"/>
          <p:cNvCxnSpPr>
            <a:stCxn id="28" idx="1"/>
            <a:endCxn id="29" idx="3"/>
          </p:cNvCxnSpPr>
          <p:nvPr/>
        </p:nvCxnSpPr>
        <p:spPr>
          <a:xfrm flipH="1">
            <a:off x="6453188" y="3124201"/>
            <a:ext cx="419100" cy="0"/>
          </a:xfrm>
          <a:prstGeom prst="straightConnector1">
            <a:avLst/>
          </a:prstGeom>
          <a:ln w="22860">
            <a:solidFill>
              <a:srgbClr val="25475E"/>
            </a:solidFill>
            <a:prstDash val="solid"/>
            <a:tailEnd type="triangle" w="med" len="med"/>
          </a:ln>
        </p:spPr>
      </p:cxn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462AB51-5ACA-4857-A69E-8DD32266EF68}"/>
              </a:ext>
            </a:extLst>
          </p:cNvPr>
          <p:cNvSpPr>
            <a:spLocks noGrp="1"/>
          </p:cNvSpPr>
          <p:nvPr/>
        </p:nvSpPr>
        <p:spPr>
          <a:xfrm>
            <a:off x="9063038" y="26717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AF80C2B6-456E-4FF9-A510-C394A40642C6}"/>
              </a:ext>
            </a:extLst>
          </p:cNvPr>
          <p:cNvSpPr>
            <a:spLocks noGrp="1"/>
          </p:cNvSpPr>
          <p:nvPr/>
        </p:nvSpPr>
        <p:spPr>
          <a:xfrm>
            <a:off x="9463088" y="26717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97" name="直線矢印コネクタ 96"/>
          <p:cNvCxnSpPr>
            <a:stCxn id="31" idx="3"/>
            <a:endCxn id="32" idx="1"/>
          </p:cNvCxnSpPr>
          <p:nvPr/>
        </p:nvCxnSpPr>
        <p:spPr>
          <a:xfrm>
            <a:off x="9072563" y="2676526"/>
            <a:ext cx="390525" cy="0"/>
          </a:xfrm>
          <a:prstGeom prst="straightConnector1">
            <a:avLst/>
          </a:prstGeom>
          <a:ln w="22860">
            <a:solidFill>
              <a:srgbClr val="25475E"/>
            </a:solidFill>
            <a:prstDash val="solid"/>
            <a:tailEnd type="triangle" w="med" len="med"/>
          </a:ln>
        </p:spPr>
      </p:cxn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0E89C5FE-F0BE-4E6B-ADB1-EBB87BC722CB}"/>
              </a:ext>
            </a:extLst>
          </p:cNvPr>
          <p:cNvSpPr>
            <a:spLocks noGrp="1"/>
          </p:cNvSpPr>
          <p:nvPr/>
        </p:nvSpPr>
        <p:spPr>
          <a:xfrm>
            <a:off x="9463088" y="31194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FC0B8B06-3825-42C7-B1EA-C91645E0853E}"/>
              </a:ext>
            </a:extLst>
          </p:cNvPr>
          <p:cNvSpPr>
            <a:spLocks noGrp="1"/>
          </p:cNvSpPr>
          <p:nvPr/>
        </p:nvSpPr>
        <p:spPr>
          <a:xfrm>
            <a:off x="9063038" y="31194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00" name="直線矢印コネクタ 99"/>
          <p:cNvCxnSpPr>
            <a:stCxn id="34" idx="1"/>
            <a:endCxn id="35" idx="3"/>
          </p:cNvCxnSpPr>
          <p:nvPr/>
        </p:nvCxnSpPr>
        <p:spPr>
          <a:xfrm flipH="1">
            <a:off x="9072563" y="3124201"/>
            <a:ext cx="390525" cy="0"/>
          </a:xfrm>
          <a:prstGeom prst="straightConnector1">
            <a:avLst/>
          </a:prstGeom>
          <a:ln w="22860">
            <a:solidFill>
              <a:srgbClr val="25475E"/>
            </a:solidFill>
            <a:prstDash val="solid"/>
            <a:tailEnd type="triangle" w="med" len="med"/>
          </a:ln>
        </p:spPr>
      </p:cxn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D9B2363A-F459-4D8E-9B28-00B0ED3678F1}"/>
              </a:ext>
            </a:extLst>
          </p:cNvPr>
          <p:cNvSpPr>
            <a:spLocks noGrp="1"/>
          </p:cNvSpPr>
          <p:nvPr/>
        </p:nvSpPr>
        <p:spPr>
          <a:xfrm>
            <a:off x="6772275" y="2038350"/>
            <a:ext cx="24288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350" b="0">
                <a:solidFill>
                  <a:srgbClr val="526778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WSDL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C4D1F609-38CB-41D0-81E9-20C067CEA39E}"/>
              </a:ext>
            </a:extLst>
          </p:cNvPr>
          <p:cNvSpPr>
            <a:spLocks noGrp="1"/>
          </p:cNvSpPr>
          <p:nvPr/>
        </p:nvSpPr>
        <p:spPr>
          <a:xfrm>
            <a:off x="5600700" y="3581400"/>
            <a:ext cx="4705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778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用途：企業間・基幹連携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FF3116B2-460A-4662-9E0A-975AD02AB8D3}"/>
              </a:ext>
            </a:extLst>
          </p:cNvPr>
          <p:cNvSpPr>
            <a:spLocks noGrp="1"/>
          </p:cNvSpPr>
          <p:nvPr/>
        </p:nvSpPr>
        <p:spPr>
          <a:xfrm>
            <a:off x="419100" y="4324350"/>
            <a:ext cx="46482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GraphQL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27976CFE-1264-4E60-A98D-7AF79585C740}"/>
              </a:ext>
            </a:extLst>
          </p:cNvPr>
          <p:cNvSpPr>
            <a:spLocks noGrp="1"/>
          </p:cNvSpPr>
          <p:nvPr/>
        </p:nvSpPr>
        <p:spPr>
          <a:xfrm>
            <a:off x="419100" y="4752975"/>
            <a:ext cx="46482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17334A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必要な項目だけを指定</a:t>
            </a:r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E4B274AA-39A0-44F7-9FE4-075D70B2190B}"/>
              </a:ext>
            </a:extLst>
          </p:cNvPr>
          <p:cNvSpPr>
            <a:spLocks noGrp="1"/>
          </p:cNvSpPr>
          <p:nvPr/>
        </p:nvSpPr>
        <p:spPr>
          <a:xfrm>
            <a:off x="447675" y="5391150"/>
            <a:ext cx="933450" cy="981075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9050">
            <a:solidFill>
              <a:srgbClr val="25475E"/>
            </a:solidFill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50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画面</a:t>
            </a:r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183492AD-9C95-469D-B28C-126F2498F8A0}"/>
              </a:ext>
            </a:extLst>
          </p:cNvPr>
          <p:cNvSpPr>
            <a:spLocks noGrp="1"/>
          </p:cNvSpPr>
          <p:nvPr/>
        </p:nvSpPr>
        <p:spPr>
          <a:xfrm>
            <a:off x="4133850" y="5391150"/>
            <a:ext cx="971550" cy="981075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9050">
            <a:solidFill>
              <a:srgbClr val="25475E"/>
            </a:solidFill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425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GraphQL</a:t>
            </a:r>
          </a:p>
          <a:p>
            <a:pPr algn="ctr">
              <a:defRPr sz="1425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API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B66A37EE-8FD6-48DC-BD6F-C132408E32B2}"/>
              </a:ext>
            </a:extLst>
          </p:cNvPr>
          <p:cNvSpPr>
            <a:spLocks noGrp="1"/>
          </p:cNvSpPr>
          <p:nvPr/>
        </p:nvSpPr>
        <p:spPr>
          <a:xfrm>
            <a:off x="1414463" y="56530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A0E1B230-C912-496F-9C5B-2D619D0CE1A9}"/>
              </a:ext>
            </a:extLst>
          </p:cNvPr>
          <p:cNvSpPr>
            <a:spLocks noGrp="1"/>
          </p:cNvSpPr>
          <p:nvPr/>
        </p:nvSpPr>
        <p:spPr>
          <a:xfrm>
            <a:off x="4090988" y="56530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09" name="直線矢印コネクタ 108"/>
          <p:cNvCxnSpPr>
            <a:stCxn id="43" idx="3"/>
            <a:endCxn id="44" idx="1"/>
          </p:cNvCxnSpPr>
          <p:nvPr/>
        </p:nvCxnSpPr>
        <p:spPr>
          <a:xfrm>
            <a:off x="1423988" y="5657851"/>
            <a:ext cx="2667000" cy="0"/>
          </a:xfrm>
          <a:prstGeom prst="straightConnector1">
            <a:avLst/>
          </a:prstGeom>
          <a:ln w="22860">
            <a:solidFill>
              <a:srgbClr val="25475E"/>
            </a:solidFill>
            <a:prstDash val="solid"/>
            <a:tailEnd type="triangle" w="med" len="med"/>
          </a:ln>
        </p:spPr>
      </p:cxn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43CE03BB-3F81-451A-B276-40C2859410EF}"/>
              </a:ext>
            </a:extLst>
          </p:cNvPr>
          <p:cNvSpPr>
            <a:spLocks noGrp="1"/>
          </p:cNvSpPr>
          <p:nvPr/>
        </p:nvSpPr>
        <p:spPr>
          <a:xfrm>
            <a:off x="4090988" y="62341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77CCF7B4-6D4F-41B2-875C-CA0CC1DC90BC}"/>
              </a:ext>
            </a:extLst>
          </p:cNvPr>
          <p:cNvSpPr>
            <a:spLocks noGrp="1"/>
          </p:cNvSpPr>
          <p:nvPr/>
        </p:nvSpPr>
        <p:spPr>
          <a:xfrm>
            <a:off x="1414463" y="62341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12" name="直線矢印コネクタ 111"/>
          <p:cNvCxnSpPr>
            <a:stCxn id="46" idx="1"/>
            <a:endCxn id="47" idx="3"/>
          </p:cNvCxnSpPr>
          <p:nvPr/>
        </p:nvCxnSpPr>
        <p:spPr>
          <a:xfrm flipH="1">
            <a:off x="1423988" y="6238876"/>
            <a:ext cx="2667000" cy="0"/>
          </a:xfrm>
          <a:prstGeom prst="straightConnector1">
            <a:avLst/>
          </a:prstGeom>
          <a:ln w="22860">
            <a:solidFill>
              <a:srgbClr val="25475E"/>
            </a:solidFill>
            <a:prstDash val="solid"/>
            <a:tailEnd type="triangle" w="med" len="med"/>
          </a:ln>
        </p:spPr>
      </p:cxn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EF2FF52E-FDE6-468A-887A-5252B29B7DD1}"/>
              </a:ext>
            </a:extLst>
          </p:cNvPr>
          <p:cNvSpPr>
            <a:spLocks noGrp="1"/>
          </p:cNvSpPr>
          <p:nvPr/>
        </p:nvSpPr>
        <p:spPr>
          <a:xfrm>
            <a:off x="1533525" y="5343525"/>
            <a:ext cx="24765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50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name / email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DB9571B2-AE26-49BE-B08A-1C923CD36978}"/>
              </a:ext>
            </a:extLst>
          </p:cNvPr>
          <p:cNvSpPr>
            <a:spLocks noGrp="1"/>
          </p:cNvSpPr>
          <p:nvPr/>
        </p:nvSpPr>
        <p:spPr>
          <a:xfrm>
            <a:off x="1533525" y="5934075"/>
            <a:ext cx="24765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50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選んだ項目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F31CDBC1-6D75-4D57-9C8C-B12A124EA1A1}"/>
              </a:ext>
            </a:extLst>
          </p:cNvPr>
          <p:cNvSpPr>
            <a:spLocks noGrp="1"/>
          </p:cNvSpPr>
          <p:nvPr/>
        </p:nvSpPr>
        <p:spPr>
          <a:xfrm>
            <a:off x="419100" y="6600825"/>
            <a:ext cx="4705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778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用途：複雑な画面のデータ取得</a:t>
            </a: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C7B6476F-B5CC-47FB-8374-F2EEA76098A5}"/>
              </a:ext>
            </a:extLst>
          </p:cNvPr>
          <p:cNvSpPr>
            <a:spLocks noGrp="1"/>
          </p:cNvSpPr>
          <p:nvPr/>
        </p:nvSpPr>
        <p:spPr>
          <a:xfrm>
            <a:off x="5600700" y="4324350"/>
            <a:ext cx="46482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gRPC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0A0C2093-FF0E-4F61-9592-778484C89580}"/>
              </a:ext>
            </a:extLst>
          </p:cNvPr>
          <p:cNvSpPr>
            <a:spLocks noGrp="1"/>
          </p:cNvSpPr>
          <p:nvPr/>
        </p:nvSpPr>
        <p:spPr>
          <a:xfrm>
            <a:off x="5600700" y="4752975"/>
            <a:ext cx="46482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17334A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遠隔の関数を呼び出す</a:t>
            </a:r>
          </a:p>
        </p:txBody>
      </p:sp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E9CDC08B-D0F5-4D33-98D5-04CBD1B2D970}"/>
              </a:ext>
            </a:extLst>
          </p:cNvPr>
          <p:cNvSpPr>
            <a:spLocks noGrp="1"/>
          </p:cNvSpPr>
          <p:nvPr/>
        </p:nvSpPr>
        <p:spPr>
          <a:xfrm>
            <a:off x="5600700" y="5391150"/>
            <a:ext cx="1066800" cy="981075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19050">
            <a:solidFill>
              <a:srgbClr val="25475E"/>
            </a:solidFill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35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サービス</a:t>
            </a:r>
            <a:r>
              <a:rPr>
                <a:latin typeface="Cambria"/>
                <a:ea typeface="Cambria"/>
                <a:cs typeface="Cambria"/>
              </a:rPr>
              <a:t>A</a:t>
            </a:r>
          </a:p>
        </p:txBody>
      </p:sp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B672559E-37E6-4274-AA6C-8571E549982B}"/>
              </a:ext>
            </a:extLst>
          </p:cNvPr>
          <p:cNvSpPr>
            <a:spLocks noGrp="1"/>
          </p:cNvSpPr>
          <p:nvPr/>
        </p:nvSpPr>
        <p:spPr>
          <a:xfrm>
            <a:off x="9220200" y="5391150"/>
            <a:ext cx="1095375" cy="981075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19050">
            <a:solidFill>
              <a:srgbClr val="25475E"/>
            </a:solidFill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35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サービス</a:t>
            </a:r>
            <a:r>
              <a:rPr>
                <a:latin typeface="Cambria"/>
                <a:ea typeface="Cambria"/>
                <a:cs typeface="Cambria"/>
              </a:rPr>
              <a:t>B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DEB6CAC4-0A83-4AF3-B13A-E0F302FF2273}"/>
              </a:ext>
            </a:extLst>
          </p:cNvPr>
          <p:cNvSpPr>
            <a:spLocks noGrp="1"/>
          </p:cNvSpPr>
          <p:nvPr/>
        </p:nvSpPr>
        <p:spPr>
          <a:xfrm>
            <a:off x="6700838" y="56435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5137CB51-6524-40AC-A60E-9B53DD1959DC}"/>
              </a:ext>
            </a:extLst>
          </p:cNvPr>
          <p:cNvSpPr>
            <a:spLocks noGrp="1"/>
          </p:cNvSpPr>
          <p:nvPr/>
        </p:nvSpPr>
        <p:spPr>
          <a:xfrm>
            <a:off x="9177338" y="56435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22" name="直線矢印コネクタ 121"/>
          <p:cNvCxnSpPr>
            <a:stCxn id="56" idx="3"/>
            <a:endCxn id="57" idx="1"/>
          </p:cNvCxnSpPr>
          <p:nvPr/>
        </p:nvCxnSpPr>
        <p:spPr>
          <a:xfrm>
            <a:off x="6710363" y="5648326"/>
            <a:ext cx="2466975" cy="0"/>
          </a:xfrm>
          <a:prstGeom prst="straightConnector1">
            <a:avLst/>
          </a:prstGeom>
          <a:ln w="22860">
            <a:solidFill>
              <a:srgbClr val="25475E"/>
            </a:solidFill>
            <a:prstDash val="solid"/>
            <a:tailEnd type="triangle" w="med" len="med"/>
          </a:ln>
        </p:spPr>
      </p:cxn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395FB83D-C638-4232-80DC-BD611CDBB0DE}"/>
              </a:ext>
            </a:extLst>
          </p:cNvPr>
          <p:cNvSpPr>
            <a:spLocks noGrp="1"/>
          </p:cNvSpPr>
          <p:nvPr/>
        </p:nvSpPr>
        <p:spPr>
          <a:xfrm>
            <a:off x="9177338" y="62341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063959A1-6293-4908-87F1-AA8210665C90}"/>
              </a:ext>
            </a:extLst>
          </p:cNvPr>
          <p:cNvSpPr>
            <a:spLocks noGrp="1"/>
          </p:cNvSpPr>
          <p:nvPr/>
        </p:nvSpPr>
        <p:spPr>
          <a:xfrm>
            <a:off x="6700838" y="62341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25" name="直線矢印コネクタ 124"/>
          <p:cNvCxnSpPr>
            <a:stCxn id="59" idx="1"/>
            <a:endCxn id="60" idx="3"/>
          </p:cNvCxnSpPr>
          <p:nvPr/>
        </p:nvCxnSpPr>
        <p:spPr>
          <a:xfrm flipH="1">
            <a:off x="6710363" y="6238876"/>
            <a:ext cx="2466975" cy="0"/>
          </a:xfrm>
          <a:prstGeom prst="straightConnector1">
            <a:avLst/>
          </a:prstGeom>
          <a:ln w="22860">
            <a:solidFill>
              <a:srgbClr val="25475E"/>
            </a:solidFill>
            <a:prstDash val="solid"/>
            <a:tailEnd type="triangle" w="med" len="med"/>
          </a:ln>
        </p:spPr>
      </p:cxn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56982193-9A76-4553-AAD5-17B0734FBC4F}"/>
              </a:ext>
            </a:extLst>
          </p:cNvPr>
          <p:cNvSpPr>
            <a:spLocks noGrp="1"/>
          </p:cNvSpPr>
          <p:nvPr/>
        </p:nvSpPr>
        <p:spPr>
          <a:xfrm>
            <a:off x="6819900" y="5343525"/>
            <a:ext cx="22479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575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GetUser(id)</a:t>
            </a: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A5EFF739-D524-4D4A-AD3F-5C72FA922C67}"/>
              </a:ext>
            </a:extLst>
          </p:cNvPr>
          <p:cNvSpPr>
            <a:spLocks noGrp="1"/>
          </p:cNvSpPr>
          <p:nvPr/>
        </p:nvSpPr>
        <p:spPr>
          <a:xfrm>
            <a:off x="6734175" y="5934075"/>
            <a:ext cx="24098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425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Protobuf + HTTP/2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2C83641E-4A3F-4EA6-BA20-6E4180ADA069}"/>
              </a:ext>
            </a:extLst>
          </p:cNvPr>
          <p:cNvSpPr>
            <a:spLocks noGrp="1"/>
          </p:cNvSpPr>
          <p:nvPr/>
        </p:nvSpPr>
        <p:spPr>
          <a:xfrm>
            <a:off x="5600700" y="6600825"/>
            <a:ext cx="4705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778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用途：内部サービス連携</a:t>
            </a:r>
          </a:p>
        </p:txBody>
      </p:sp>
    </p:spTree>
    <p:extLst>
      <p:ext uri="{BB962C8B-B14F-4D97-AF65-F5344CB8AC3E}">
        <p14:creationId xmlns:p14="http://schemas.microsoft.com/office/powerpoint/2010/main" val="43541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0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12634721-E16C-402B-9901-F0399A46E9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692000" cy="1085850"/>
          </a:xfrm>
          <a:prstGeom prst="rect">
            <a:avLst/>
          </a:prstGeom>
          <a:solidFill>
            <a:srgbClr val="1733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17334A"/>
                </a:solidFill>
                <a:latin typeface="Yu Gothic"/>
                <a:ea typeface="Yu Gothic"/>
                <a:cs typeface="Yu Gothic"/>
              </a:defRPr>
            </a:pPr>
            <a:endParaRPr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09E62D9-2EF3-4EC1-B7AB-DFF80B316F19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990600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リアルタイム・イベント連携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F0F99EB-84FD-43D7-8442-287C57D0F322}"/>
              </a:ext>
            </a:extLst>
          </p:cNvPr>
          <p:cNvSpPr>
            <a:spLocks noGrp="1"/>
          </p:cNvSpPr>
          <p:nvPr/>
        </p:nvSpPr>
        <p:spPr>
          <a:xfrm>
            <a:off x="419100" y="752475"/>
            <a:ext cx="98107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0">
                <a:solidFill>
                  <a:srgbClr val="CBD6DF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更新を届ける</a:t>
            </a:r>
            <a:r>
              <a:rPr>
                <a:latin typeface="Cambria"/>
                <a:ea typeface="Cambria"/>
                <a:cs typeface="Cambria"/>
              </a:rPr>
              <a:t>4</a:t>
            </a:r>
            <a:r>
              <a:rPr>
                <a:latin typeface="Yu Gothic"/>
                <a:ea typeface="Yu Gothic"/>
                <a:cs typeface="Yu Gothic"/>
              </a:rPr>
              <a:t>方式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3E1434F-62DA-46CB-B87D-90666E8272EA}"/>
              </a:ext>
            </a:extLst>
          </p:cNvPr>
          <p:cNvSpPr>
            <a:spLocks noGrp="1"/>
          </p:cNvSpPr>
          <p:nvPr/>
        </p:nvSpPr>
        <p:spPr>
          <a:xfrm>
            <a:off x="9696450" y="7239000"/>
            <a:ext cx="609600" cy="200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00" b="0">
                <a:solidFill>
                  <a:srgbClr val="6B7E8C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2 / 3</a:t>
            </a:r>
          </a:p>
        </p:txBody>
      </p:sp>
      <p:sp>
        <p:nvSpPr>
          <p:cNvPr id="5" name="直線コネクタ 4">
            <a:extLst>
              <a:ext uri="{FF2B5EF4-FFF2-40B4-BE49-F238E27FC236}">
                <a16:creationId xmlns:a16="http://schemas.microsoft.com/office/drawing/2014/main" id="{17CF9390-68C7-4D1C-98F0-C7D9D8429A6C}"/>
              </a:ext>
            </a:extLst>
          </p:cNvPr>
          <p:cNvSpPr>
            <a:spLocks noGrp="1"/>
          </p:cNvSpPr>
          <p:nvPr/>
        </p:nvSpPr>
        <p:spPr>
          <a:xfrm>
            <a:off x="5343525" y="1266825"/>
            <a:ext cx="0" cy="5695950"/>
          </a:xfrm>
          <a:prstGeom prst="line">
            <a:avLst/>
          </a:prstGeom>
          <a:noFill/>
          <a:ln w="9525">
            <a:solidFill>
              <a:srgbClr val="D8E1E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直線コネクタ 5">
            <a:extLst>
              <a:ext uri="{FF2B5EF4-FFF2-40B4-BE49-F238E27FC236}">
                <a16:creationId xmlns:a16="http://schemas.microsoft.com/office/drawing/2014/main" id="{72D5CF40-F031-4014-98F7-905E7B960C55}"/>
              </a:ext>
            </a:extLst>
          </p:cNvPr>
          <p:cNvSpPr>
            <a:spLocks noGrp="1"/>
          </p:cNvSpPr>
          <p:nvPr/>
        </p:nvSpPr>
        <p:spPr>
          <a:xfrm>
            <a:off x="409575" y="4067175"/>
            <a:ext cx="9886950" cy="0"/>
          </a:xfrm>
          <a:prstGeom prst="line">
            <a:avLst/>
          </a:prstGeom>
          <a:noFill/>
          <a:ln w="9525">
            <a:solidFill>
              <a:srgbClr val="D8E1E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88F222A-C03A-4577-841F-995499C92D96}"/>
              </a:ext>
            </a:extLst>
          </p:cNvPr>
          <p:cNvSpPr>
            <a:spLocks noGrp="1"/>
          </p:cNvSpPr>
          <p:nvPr/>
        </p:nvSpPr>
        <p:spPr>
          <a:xfrm>
            <a:off x="419100" y="1304925"/>
            <a:ext cx="46482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WebSocket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F5851AE-5092-4F04-9A3F-4FB7A084F791}"/>
              </a:ext>
            </a:extLst>
          </p:cNvPr>
          <p:cNvSpPr>
            <a:spLocks noGrp="1"/>
          </p:cNvSpPr>
          <p:nvPr/>
        </p:nvSpPr>
        <p:spPr>
          <a:xfrm>
            <a:off x="419100" y="1733550"/>
            <a:ext cx="46482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17334A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つながったまま双方向通信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156E246B-81FA-40E8-AE74-0C108852591E}"/>
              </a:ext>
            </a:extLst>
          </p:cNvPr>
          <p:cNvSpPr>
            <a:spLocks noGrp="1"/>
          </p:cNvSpPr>
          <p:nvPr/>
        </p:nvSpPr>
        <p:spPr>
          <a:xfrm>
            <a:off x="438150" y="2314575"/>
            <a:ext cx="1047750" cy="1095375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25475E"/>
            </a:solidFill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425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ブラウザー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747849C-B15D-4CF5-920F-050811A0E558}"/>
              </a:ext>
            </a:extLst>
          </p:cNvPr>
          <p:cNvSpPr>
            <a:spLocks noGrp="1"/>
          </p:cNvSpPr>
          <p:nvPr/>
        </p:nvSpPr>
        <p:spPr>
          <a:xfrm>
            <a:off x="4038600" y="2314575"/>
            <a:ext cx="1085850" cy="1095375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19050">
            <a:solidFill>
              <a:srgbClr val="25475E"/>
            </a:solidFill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50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サーバー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5BC137C-5D5B-4BFE-88A4-5E1086D14B9A}"/>
              </a:ext>
            </a:extLst>
          </p:cNvPr>
          <p:cNvSpPr>
            <a:spLocks noGrp="1"/>
          </p:cNvSpPr>
          <p:nvPr/>
        </p:nvSpPr>
        <p:spPr>
          <a:xfrm>
            <a:off x="1519238" y="25574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C43351E-6A5A-43B5-B350-D215F726ACA1}"/>
              </a:ext>
            </a:extLst>
          </p:cNvPr>
          <p:cNvSpPr>
            <a:spLocks noGrp="1"/>
          </p:cNvSpPr>
          <p:nvPr/>
        </p:nvSpPr>
        <p:spPr>
          <a:xfrm>
            <a:off x="3995738" y="25574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90" name="直線矢印コネクタ 89"/>
          <p:cNvCxnSpPr>
            <a:stCxn id="11" idx="3"/>
            <a:endCxn id="12" idx="1"/>
          </p:cNvCxnSpPr>
          <p:nvPr/>
        </p:nvCxnSpPr>
        <p:spPr>
          <a:xfrm>
            <a:off x="1528763" y="2562226"/>
            <a:ext cx="2466975" cy="0"/>
          </a:xfrm>
          <a:prstGeom prst="straightConnector1">
            <a:avLst/>
          </a:prstGeom>
          <a:ln w="22860">
            <a:solidFill>
              <a:srgbClr val="25475E"/>
            </a:solidFill>
            <a:prstDash val="solid"/>
            <a:tailEnd type="triangle" w="med" len="med"/>
          </a:ln>
        </p:spPr>
      </p:cxn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A47D3AA-F9A2-44FB-AED7-E292F64AD181}"/>
              </a:ext>
            </a:extLst>
          </p:cNvPr>
          <p:cNvSpPr>
            <a:spLocks noGrp="1"/>
          </p:cNvSpPr>
          <p:nvPr/>
        </p:nvSpPr>
        <p:spPr>
          <a:xfrm>
            <a:off x="3995738" y="28908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3CCCABB-0FA9-4B78-8145-B14D1970B6E7}"/>
              </a:ext>
            </a:extLst>
          </p:cNvPr>
          <p:cNvSpPr>
            <a:spLocks noGrp="1"/>
          </p:cNvSpPr>
          <p:nvPr/>
        </p:nvSpPr>
        <p:spPr>
          <a:xfrm>
            <a:off x="1519238" y="28908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93" name="直線矢印コネクタ 92"/>
          <p:cNvCxnSpPr>
            <a:stCxn id="14" idx="1"/>
            <a:endCxn id="15" idx="3"/>
          </p:cNvCxnSpPr>
          <p:nvPr/>
        </p:nvCxnSpPr>
        <p:spPr>
          <a:xfrm flipH="1">
            <a:off x="1528763" y="2895601"/>
            <a:ext cx="2466975" cy="0"/>
          </a:xfrm>
          <a:prstGeom prst="straightConnector1">
            <a:avLst/>
          </a:prstGeom>
          <a:ln w="22860">
            <a:solidFill>
              <a:srgbClr val="25475E"/>
            </a:solidFill>
            <a:prstDash val="solid"/>
            <a:tailEnd type="triangle" w="med" len="med"/>
          </a:ln>
        </p:spPr>
      </p:cxn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CC10641-F1E2-4DE8-A635-E92EF821AD5D}"/>
              </a:ext>
            </a:extLst>
          </p:cNvPr>
          <p:cNvSpPr>
            <a:spLocks noGrp="1"/>
          </p:cNvSpPr>
          <p:nvPr/>
        </p:nvSpPr>
        <p:spPr>
          <a:xfrm>
            <a:off x="1519238" y="32242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1676A54-F020-426B-B457-05EF9D6C64B5}"/>
              </a:ext>
            </a:extLst>
          </p:cNvPr>
          <p:cNvSpPr>
            <a:spLocks noGrp="1"/>
          </p:cNvSpPr>
          <p:nvPr/>
        </p:nvSpPr>
        <p:spPr>
          <a:xfrm>
            <a:off x="3995738" y="32242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96" name="直線矢印コネクタ 95"/>
          <p:cNvCxnSpPr>
            <a:stCxn id="17" idx="3"/>
            <a:endCxn id="18" idx="1"/>
          </p:cNvCxnSpPr>
          <p:nvPr/>
        </p:nvCxnSpPr>
        <p:spPr>
          <a:xfrm>
            <a:off x="1528763" y="3228976"/>
            <a:ext cx="2466975" cy="0"/>
          </a:xfrm>
          <a:prstGeom prst="straightConnector1">
            <a:avLst/>
          </a:prstGeom>
          <a:ln w="22860">
            <a:solidFill>
              <a:srgbClr val="25475E"/>
            </a:solidFill>
            <a:prstDash val="solid"/>
            <a:tailEnd type="triangle" w="med" len="med"/>
          </a:ln>
        </p:spPr>
      </p:cxn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E4D3F3E-1359-4BA0-8AF0-88A6377E292B}"/>
              </a:ext>
            </a:extLst>
          </p:cNvPr>
          <p:cNvSpPr>
            <a:spLocks noGrp="1"/>
          </p:cNvSpPr>
          <p:nvPr/>
        </p:nvSpPr>
        <p:spPr>
          <a:xfrm>
            <a:off x="2124075" y="2362200"/>
            <a:ext cx="13811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200" b="0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メッセージ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D1D2567-B345-4313-9C69-ACB55F610424}"/>
              </a:ext>
            </a:extLst>
          </p:cNvPr>
          <p:cNvSpPr>
            <a:spLocks noGrp="1"/>
          </p:cNvSpPr>
          <p:nvPr/>
        </p:nvSpPr>
        <p:spPr>
          <a:xfrm>
            <a:off x="2228850" y="2695575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200" b="0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更新通知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898CB431-062B-421C-8BF7-CC387BC0EE01}"/>
              </a:ext>
            </a:extLst>
          </p:cNvPr>
          <p:cNvSpPr>
            <a:spLocks noGrp="1"/>
          </p:cNvSpPr>
          <p:nvPr/>
        </p:nvSpPr>
        <p:spPr>
          <a:xfrm>
            <a:off x="2228850" y="3028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200" b="0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次の操作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B101D0B-542D-4486-B673-1F80D9607F4B}"/>
              </a:ext>
            </a:extLst>
          </p:cNvPr>
          <p:cNvSpPr>
            <a:spLocks noGrp="1"/>
          </p:cNvSpPr>
          <p:nvPr/>
        </p:nvSpPr>
        <p:spPr>
          <a:xfrm>
            <a:off x="419100" y="3581400"/>
            <a:ext cx="4705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778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用途：チャット・共同編集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EF49F387-F134-4EFE-9780-E56A665FEF8D}"/>
              </a:ext>
            </a:extLst>
          </p:cNvPr>
          <p:cNvSpPr>
            <a:spLocks noGrp="1"/>
          </p:cNvSpPr>
          <p:nvPr/>
        </p:nvSpPr>
        <p:spPr>
          <a:xfrm>
            <a:off x="5600700" y="1304925"/>
            <a:ext cx="46482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Webhook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DD4C3088-E340-4ED6-9D11-4B7CA523507A}"/>
              </a:ext>
            </a:extLst>
          </p:cNvPr>
          <p:cNvSpPr>
            <a:spLocks noGrp="1"/>
          </p:cNvSpPr>
          <p:nvPr/>
        </p:nvSpPr>
        <p:spPr>
          <a:xfrm>
            <a:off x="5600700" y="1733550"/>
            <a:ext cx="46482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17334A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イベント発生時に通知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864615C7-2A4E-41B4-BB35-A479EA621DF5}"/>
              </a:ext>
            </a:extLst>
          </p:cNvPr>
          <p:cNvSpPr>
            <a:spLocks noGrp="1"/>
          </p:cNvSpPr>
          <p:nvPr/>
        </p:nvSpPr>
        <p:spPr>
          <a:xfrm>
            <a:off x="5600700" y="2400300"/>
            <a:ext cx="1143000" cy="1009650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9050">
            <a:solidFill>
              <a:srgbClr val="25475E"/>
            </a:solidFill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35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決済</a:t>
            </a:r>
          </a:p>
          <a:p>
            <a:pPr algn="ctr">
              <a:defRPr sz="135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サービス</a:t>
            </a: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1B059E85-4F05-4577-84AE-2990C864E12E}"/>
              </a:ext>
            </a:extLst>
          </p:cNvPr>
          <p:cNvSpPr>
            <a:spLocks noGrp="1"/>
          </p:cNvSpPr>
          <p:nvPr/>
        </p:nvSpPr>
        <p:spPr>
          <a:xfrm>
            <a:off x="9210675" y="2400300"/>
            <a:ext cx="1104900" cy="1009650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9050">
            <a:solidFill>
              <a:srgbClr val="25475E"/>
            </a:solidFill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425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通知先</a:t>
            </a:r>
          </a:p>
          <a:p>
            <a:pPr algn="ctr">
              <a:defRPr sz="1425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URL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8038E9C-B80E-47FF-A8F3-F7D517CDDC60}"/>
              </a:ext>
            </a:extLst>
          </p:cNvPr>
          <p:cNvSpPr>
            <a:spLocks noGrp="1"/>
          </p:cNvSpPr>
          <p:nvPr/>
        </p:nvSpPr>
        <p:spPr>
          <a:xfrm>
            <a:off x="5600700" y="2076450"/>
            <a:ext cx="16287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イベント発生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489CABF0-E42D-4BF8-A420-7BF7DF8D17F4}"/>
              </a:ext>
            </a:extLst>
          </p:cNvPr>
          <p:cNvSpPr>
            <a:spLocks noGrp="1"/>
          </p:cNvSpPr>
          <p:nvPr/>
        </p:nvSpPr>
        <p:spPr>
          <a:xfrm>
            <a:off x="6786563" y="27098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BEB76087-9788-4CEF-BB3A-C9AF21EBA06D}"/>
              </a:ext>
            </a:extLst>
          </p:cNvPr>
          <p:cNvSpPr>
            <a:spLocks noGrp="1"/>
          </p:cNvSpPr>
          <p:nvPr/>
        </p:nvSpPr>
        <p:spPr>
          <a:xfrm>
            <a:off x="9167813" y="27098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08" name="直線矢印コネクタ 107"/>
          <p:cNvCxnSpPr>
            <a:stCxn id="29" idx="3"/>
            <a:endCxn id="30" idx="1"/>
          </p:cNvCxnSpPr>
          <p:nvPr/>
        </p:nvCxnSpPr>
        <p:spPr>
          <a:xfrm>
            <a:off x="6796088" y="2714626"/>
            <a:ext cx="2371725" cy="0"/>
          </a:xfrm>
          <a:prstGeom prst="straightConnector1">
            <a:avLst/>
          </a:prstGeom>
          <a:ln w="22860">
            <a:solidFill>
              <a:srgbClr val="25475E"/>
            </a:solidFill>
            <a:prstDash val="solid"/>
            <a:tailEnd type="triangle" w="med" len="med"/>
          </a:ln>
        </p:spPr>
      </p:cxn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E4B3EF2F-A2B2-4265-88E0-3961298B3498}"/>
              </a:ext>
            </a:extLst>
          </p:cNvPr>
          <p:cNvSpPr>
            <a:spLocks noGrp="1"/>
          </p:cNvSpPr>
          <p:nvPr/>
        </p:nvSpPr>
        <p:spPr>
          <a:xfrm>
            <a:off x="6867525" y="2381250"/>
            <a:ext cx="22383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575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HTTP POST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03DC28CE-AB6A-4505-A6E3-77E7E311FF55}"/>
              </a:ext>
            </a:extLst>
          </p:cNvPr>
          <p:cNvSpPr>
            <a:spLocks noGrp="1"/>
          </p:cNvSpPr>
          <p:nvPr/>
        </p:nvSpPr>
        <p:spPr>
          <a:xfrm>
            <a:off x="9167813" y="31861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ABFD725-9044-4821-BC6F-1E6C128446F7}"/>
              </a:ext>
            </a:extLst>
          </p:cNvPr>
          <p:cNvSpPr>
            <a:spLocks noGrp="1"/>
          </p:cNvSpPr>
          <p:nvPr/>
        </p:nvSpPr>
        <p:spPr>
          <a:xfrm>
            <a:off x="6786563" y="31861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12" name="直線矢印コネクタ 111"/>
          <p:cNvCxnSpPr>
            <a:stCxn id="33" idx="1"/>
            <a:endCxn id="34" idx="3"/>
          </p:cNvCxnSpPr>
          <p:nvPr/>
        </p:nvCxnSpPr>
        <p:spPr>
          <a:xfrm flipH="1">
            <a:off x="6796088" y="3190876"/>
            <a:ext cx="2371725" cy="0"/>
          </a:xfrm>
          <a:prstGeom prst="straightConnector1">
            <a:avLst/>
          </a:prstGeom>
          <a:ln w="22860">
            <a:solidFill>
              <a:srgbClr val="25475E"/>
            </a:solidFill>
            <a:prstDash val="dash"/>
            <a:tailEnd type="triangle" w="med" len="med"/>
          </a:ln>
        </p:spPr>
      </p:cxn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7CED7AEE-4EF8-4C6F-89CE-7B1B6C814DD1}"/>
              </a:ext>
            </a:extLst>
          </p:cNvPr>
          <p:cNvSpPr>
            <a:spLocks noGrp="1"/>
          </p:cNvSpPr>
          <p:nvPr/>
        </p:nvSpPr>
        <p:spPr>
          <a:xfrm>
            <a:off x="6800850" y="2895600"/>
            <a:ext cx="23526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350" b="0">
                <a:solidFill>
                  <a:srgbClr val="526778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受領応答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6A32B18E-73CB-496C-ADB2-004A5CEC0D01}"/>
              </a:ext>
            </a:extLst>
          </p:cNvPr>
          <p:cNvSpPr>
            <a:spLocks noGrp="1"/>
          </p:cNvSpPr>
          <p:nvPr/>
        </p:nvSpPr>
        <p:spPr>
          <a:xfrm>
            <a:off x="5600700" y="3581400"/>
            <a:ext cx="4705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778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用途：決済完了通知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DF0E3DF5-3F2A-47DD-A77B-1948A7E69CD2}"/>
              </a:ext>
            </a:extLst>
          </p:cNvPr>
          <p:cNvSpPr>
            <a:spLocks noGrp="1"/>
          </p:cNvSpPr>
          <p:nvPr/>
        </p:nvSpPr>
        <p:spPr>
          <a:xfrm>
            <a:off x="419100" y="4324350"/>
            <a:ext cx="46482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MQTT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6C7ADCFC-35C2-406F-AC67-B29E25B4AE0D}"/>
              </a:ext>
            </a:extLst>
          </p:cNvPr>
          <p:cNvSpPr>
            <a:spLocks noGrp="1"/>
          </p:cNvSpPr>
          <p:nvPr/>
        </p:nvSpPr>
        <p:spPr>
          <a:xfrm>
            <a:off x="419100" y="4752975"/>
            <a:ext cx="46482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17334A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仲介サーバー経由で配信</a:t>
            </a:r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BBCDCCE1-5B47-4A8D-A8F7-1706D60D1244}"/>
              </a:ext>
            </a:extLst>
          </p:cNvPr>
          <p:cNvSpPr>
            <a:spLocks noGrp="1"/>
          </p:cNvSpPr>
          <p:nvPr/>
        </p:nvSpPr>
        <p:spPr>
          <a:xfrm>
            <a:off x="419100" y="5495925"/>
            <a:ext cx="933450" cy="8096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25475E"/>
            </a:solidFill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425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温度</a:t>
            </a:r>
          </a:p>
          <a:p>
            <a:pPr algn="ctr">
              <a:defRPr sz="1425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センサー</a:t>
            </a:r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BEF95CE0-F793-4B2A-B22A-D99DCBF994EE}"/>
              </a:ext>
            </a:extLst>
          </p:cNvPr>
          <p:cNvSpPr>
            <a:spLocks noGrp="1"/>
          </p:cNvSpPr>
          <p:nvPr/>
        </p:nvSpPr>
        <p:spPr>
          <a:xfrm>
            <a:off x="2209800" y="5495925"/>
            <a:ext cx="1104900" cy="8096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25475E"/>
            </a:solidFill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425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Broker</a:t>
            </a:r>
          </a:p>
          <a:p>
            <a:pPr algn="ctr">
              <a:defRPr sz="1425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仲介</a:t>
            </a:r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ED300A25-ED66-4A3C-A2F1-F4E9C71CE28A}"/>
              </a:ext>
            </a:extLst>
          </p:cNvPr>
          <p:cNvSpPr>
            <a:spLocks noGrp="1"/>
          </p:cNvSpPr>
          <p:nvPr/>
        </p:nvSpPr>
        <p:spPr>
          <a:xfrm>
            <a:off x="4257675" y="5200650"/>
            <a:ext cx="866775" cy="504825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9050">
            <a:solidFill>
              <a:srgbClr val="25475E"/>
            </a:solidFill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35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スマホ</a:t>
            </a: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01D24ACA-948D-45EF-AB3F-C429A6720243}"/>
              </a:ext>
            </a:extLst>
          </p:cNvPr>
          <p:cNvSpPr>
            <a:spLocks noGrp="1"/>
          </p:cNvSpPr>
          <p:nvPr/>
        </p:nvSpPr>
        <p:spPr>
          <a:xfrm>
            <a:off x="4257675" y="6000750"/>
            <a:ext cx="866775" cy="504825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9050">
            <a:solidFill>
              <a:srgbClr val="25475E"/>
            </a:solidFill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35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空調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69A12C0A-8DEE-4F6E-AC20-929294709E89}"/>
              </a:ext>
            </a:extLst>
          </p:cNvPr>
          <p:cNvSpPr>
            <a:spLocks noGrp="1"/>
          </p:cNvSpPr>
          <p:nvPr/>
        </p:nvSpPr>
        <p:spPr>
          <a:xfrm>
            <a:off x="1385888" y="59007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5497D4D6-67F1-48A6-8CB4-A5D480C4366B}"/>
              </a:ext>
            </a:extLst>
          </p:cNvPr>
          <p:cNvSpPr>
            <a:spLocks noGrp="1"/>
          </p:cNvSpPr>
          <p:nvPr/>
        </p:nvSpPr>
        <p:spPr>
          <a:xfrm>
            <a:off x="2166938" y="59007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23" name="直線矢印コネクタ 122"/>
          <p:cNvCxnSpPr>
            <a:stCxn id="44" idx="3"/>
            <a:endCxn id="45" idx="1"/>
          </p:cNvCxnSpPr>
          <p:nvPr/>
        </p:nvCxnSpPr>
        <p:spPr>
          <a:xfrm>
            <a:off x="1395413" y="5905501"/>
            <a:ext cx="771525" cy="0"/>
          </a:xfrm>
          <a:prstGeom prst="straightConnector1">
            <a:avLst/>
          </a:prstGeom>
          <a:ln w="22860">
            <a:solidFill>
              <a:srgbClr val="25475E"/>
            </a:solidFill>
            <a:prstDash val="solid"/>
            <a:tailEnd type="triangle" w="med" len="med"/>
          </a:ln>
        </p:spPr>
      </p:cxn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C9176B97-31FA-44EE-B971-09CD84A3AC7F}"/>
              </a:ext>
            </a:extLst>
          </p:cNvPr>
          <p:cNvSpPr>
            <a:spLocks noGrp="1"/>
          </p:cNvSpPr>
          <p:nvPr/>
        </p:nvSpPr>
        <p:spPr>
          <a:xfrm>
            <a:off x="3348038" y="56911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2F2A585F-D9AE-453B-9E94-9668C8C51856}"/>
              </a:ext>
            </a:extLst>
          </p:cNvPr>
          <p:cNvSpPr>
            <a:spLocks noGrp="1"/>
          </p:cNvSpPr>
          <p:nvPr/>
        </p:nvSpPr>
        <p:spPr>
          <a:xfrm>
            <a:off x="4214813" y="54435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26" name="直線矢印コネクタ 125"/>
          <p:cNvCxnSpPr>
            <a:stCxn id="47" idx="3"/>
            <a:endCxn id="48" idx="1"/>
          </p:cNvCxnSpPr>
          <p:nvPr/>
        </p:nvCxnSpPr>
        <p:spPr>
          <a:xfrm flipV="1">
            <a:off x="3357563" y="5448301"/>
            <a:ext cx="857250" cy="247650"/>
          </a:xfrm>
          <a:prstGeom prst="straightConnector1">
            <a:avLst/>
          </a:prstGeom>
          <a:ln w="22860">
            <a:solidFill>
              <a:srgbClr val="25475E"/>
            </a:solidFill>
            <a:prstDash val="solid"/>
            <a:tailEnd type="triangle" w="med" len="med"/>
          </a:ln>
        </p:spPr>
      </p:cxn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0F5BC0A4-8C71-4A7B-AE4A-2C895B0DD613}"/>
              </a:ext>
            </a:extLst>
          </p:cNvPr>
          <p:cNvSpPr>
            <a:spLocks noGrp="1"/>
          </p:cNvSpPr>
          <p:nvPr/>
        </p:nvSpPr>
        <p:spPr>
          <a:xfrm>
            <a:off x="3348038" y="61007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90099E8E-6CF4-463B-AB0B-38FA4CF5F767}"/>
              </a:ext>
            </a:extLst>
          </p:cNvPr>
          <p:cNvSpPr>
            <a:spLocks noGrp="1"/>
          </p:cNvSpPr>
          <p:nvPr/>
        </p:nvSpPr>
        <p:spPr>
          <a:xfrm>
            <a:off x="4214813" y="62436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29" name="直線矢印コネクタ 128"/>
          <p:cNvCxnSpPr>
            <a:stCxn id="50" idx="3"/>
            <a:endCxn id="51" idx="1"/>
          </p:cNvCxnSpPr>
          <p:nvPr/>
        </p:nvCxnSpPr>
        <p:spPr>
          <a:xfrm>
            <a:off x="3357563" y="6105526"/>
            <a:ext cx="857250" cy="142875"/>
          </a:xfrm>
          <a:prstGeom prst="straightConnector1">
            <a:avLst/>
          </a:prstGeom>
          <a:ln w="22860">
            <a:solidFill>
              <a:srgbClr val="25475E"/>
            </a:solidFill>
            <a:prstDash val="solid"/>
            <a:tailEnd type="triangle" w="med" len="med"/>
          </a:ln>
        </p:spPr>
      </p:cxn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72BC0B06-C619-4442-A8B7-3742202AD3DC}"/>
              </a:ext>
            </a:extLst>
          </p:cNvPr>
          <p:cNvSpPr>
            <a:spLocks noGrp="1"/>
          </p:cNvSpPr>
          <p:nvPr/>
        </p:nvSpPr>
        <p:spPr>
          <a:xfrm>
            <a:off x="1314450" y="5457825"/>
            <a:ext cx="10001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200" b="0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送信</a:t>
            </a: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A2557AE8-2612-47B2-AADF-0F8B0D7F8994}"/>
              </a:ext>
            </a:extLst>
          </p:cNvPr>
          <p:cNvSpPr>
            <a:spLocks noGrp="1"/>
          </p:cNvSpPr>
          <p:nvPr/>
        </p:nvSpPr>
        <p:spPr>
          <a:xfrm>
            <a:off x="3286125" y="5229225"/>
            <a:ext cx="10287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200" b="0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配信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857485E7-6894-4A4A-A33A-2DFF85F23C2C}"/>
              </a:ext>
            </a:extLst>
          </p:cNvPr>
          <p:cNvSpPr>
            <a:spLocks noGrp="1"/>
          </p:cNvSpPr>
          <p:nvPr/>
        </p:nvSpPr>
        <p:spPr>
          <a:xfrm>
            <a:off x="419100" y="6600825"/>
            <a:ext cx="4705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778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用途：</a:t>
            </a:r>
            <a:r>
              <a:rPr>
                <a:latin typeface="Cambria"/>
                <a:ea typeface="Cambria"/>
                <a:cs typeface="Cambria"/>
              </a:rPr>
              <a:t>IoT</a:t>
            </a:r>
            <a:r>
              <a:rPr>
                <a:latin typeface="Yu Gothic"/>
                <a:ea typeface="Yu Gothic"/>
                <a:cs typeface="Yu Gothic"/>
              </a:rPr>
              <a:t>・センサー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4CE478FD-F814-4FC9-AE87-757BE009B3B7}"/>
              </a:ext>
            </a:extLst>
          </p:cNvPr>
          <p:cNvSpPr>
            <a:spLocks noGrp="1"/>
          </p:cNvSpPr>
          <p:nvPr/>
        </p:nvSpPr>
        <p:spPr>
          <a:xfrm>
            <a:off x="5600700" y="4324350"/>
            <a:ext cx="46482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Apache Kafka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0E1F151C-5481-4017-9E7F-2BECAF2ACE5D}"/>
              </a:ext>
            </a:extLst>
          </p:cNvPr>
          <p:cNvSpPr>
            <a:spLocks noGrp="1"/>
          </p:cNvSpPr>
          <p:nvPr/>
        </p:nvSpPr>
        <p:spPr>
          <a:xfrm>
            <a:off x="5600700" y="4752975"/>
            <a:ext cx="46482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17334A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イベントを保存・再利用</a:t>
            </a:r>
          </a:p>
        </p:txBody>
      </p:sp>
      <p:sp>
        <p:nvSpPr>
          <p:cNvPr id="58" name="四角形: 角を丸くする 57">
            <a:extLst>
              <a:ext uri="{FF2B5EF4-FFF2-40B4-BE49-F238E27FC236}">
                <a16:creationId xmlns:a16="http://schemas.microsoft.com/office/drawing/2014/main" id="{F5F7A88A-E332-4C9E-8BAB-946D0D88112A}"/>
              </a:ext>
            </a:extLst>
          </p:cNvPr>
          <p:cNvSpPr>
            <a:spLocks noGrp="1"/>
          </p:cNvSpPr>
          <p:nvPr/>
        </p:nvSpPr>
        <p:spPr>
          <a:xfrm>
            <a:off x="5600700" y="5572125"/>
            <a:ext cx="914400" cy="80010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9050">
            <a:solidFill>
              <a:srgbClr val="25475E"/>
            </a:solidFill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35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注文</a:t>
            </a:r>
          </a:p>
          <a:p>
            <a:pPr algn="ctr">
              <a:defRPr sz="135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サービス</a:t>
            </a: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93488D59-F1A3-432C-B7C0-598037EBB0E3}"/>
              </a:ext>
            </a:extLst>
          </p:cNvPr>
          <p:cNvSpPr>
            <a:spLocks noGrp="1"/>
          </p:cNvSpPr>
          <p:nvPr/>
        </p:nvSpPr>
        <p:spPr>
          <a:xfrm>
            <a:off x="7286625" y="5248275"/>
            <a:ext cx="1762125" cy="371475"/>
          </a:xfrm>
          <a:prstGeom prst="rect">
            <a:avLst/>
          </a:prstGeom>
          <a:solidFill>
            <a:srgbClr val="FFFFFF"/>
          </a:solidFill>
          <a:ln w="19050">
            <a:solidFill>
              <a:srgbClr val="25475E"/>
            </a:solidFill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275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Kafka</a:t>
            </a:r>
            <a:r>
              <a:rPr>
                <a:latin typeface="Yu Gothic"/>
                <a:ea typeface="Yu Gothic"/>
                <a:cs typeface="Yu Gothic"/>
              </a:rPr>
              <a:t>：保持ログ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28B45762-0687-4CDA-A987-C0F13BFC5FBB}"/>
              </a:ext>
            </a:extLst>
          </p:cNvPr>
          <p:cNvSpPr>
            <a:spLocks noGrp="1"/>
          </p:cNvSpPr>
          <p:nvPr/>
        </p:nvSpPr>
        <p:spPr>
          <a:xfrm>
            <a:off x="7286625" y="5715000"/>
            <a:ext cx="419100" cy="390525"/>
          </a:xfrm>
          <a:prstGeom prst="rect">
            <a:avLst/>
          </a:prstGeom>
          <a:solidFill>
            <a:srgbClr val="FFFFFF"/>
          </a:solidFill>
          <a:ln w="19050">
            <a:solidFill>
              <a:srgbClr val="25475E"/>
            </a:solidFill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35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9123CA89-B67B-4993-AAAB-EC39E967189B}"/>
              </a:ext>
            </a:extLst>
          </p:cNvPr>
          <p:cNvSpPr>
            <a:spLocks noGrp="1"/>
          </p:cNvSpPr>
          <p:nvPr/>
        </p:nvSpPr>
        <p:spPr>
          <a:xfrm>
            <a:off x="7724775" y="5715000"/>
            <a:ext cx="419100" cy="390525"/>
          </a:xfrm>
          <a:prstGeom prst="rect">
            <a:avLst/>
          </a:prstGeom>
          <a:solidFill>
            <a:srgbClr val="FFFFFF"/>
          </a:solidFill>
          <a:ln w="19050">
            <a:solidFill>
              <a:srgbClr val="25475E"/>
            </a:solidFill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35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EA889C52-DEE9-48FA-BBE9-608F0180F621}"/>
              </a:ext>
            </a:extLst>
          </p:cNvPr>
          <p:cNvSpPr>
            <a:spLocks noGrp="1"/>
          </p:cNvSpPr>
          <p:nvPr/>
        </p:nvSpPr>
        <p:spPr>
          <a:xfrm>
            <a:off x="8162925" y="5715000"/>
            <a:ext cx="419100" cy="390525"/>
          </a:xfrm>
          <a:prstGeom prst="rect">
            <a:avLst/>
          </a:prstGeom>
          <a:solidFill>
            <a:srgbClr val="FFFFFF"/>
          </a:solidFill>
          <a:ln w="19050">
            <a:solidFill>
              <a:srgbClr val="25475E"/>
            </a:solidFill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35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D40F2D0A-C96D-473F-966C-37C31CF24BB2}"/>
              </a:ext>
            </a:extLst>
          </p:cNvPr>
          <p:cNvSpPr>
            <a:spLocks noGrp="1"/>
          </p:cNvSpPr>
          <p:nvPr/>
        </p:nvSpPr>
        <p:spPr>
          <a:xfrm>
            <a:off x="8601075" y="5715000"/>
            <a:ext cx="419100" cy="390525"/>
          </a:xfrm>
          <a:prstGeom prst="rect">
            <a:avLst/>
          </a:prstGeom>
          <a:solidFill>
            <a:srgbClr val="FFFFFF"/>
          </a:solidFill>
          <a:ln w="19050">
            <a:solidFill>
              <a:srgbClr val="25475E"/>
            </a:solidFill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35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64" name="四角形: 角を丸くする 63">
            <a:extLst>
              <a:ext uri="{FF2B5EF4-FFF2-40B4-BE49-F238E27FC236}">
                <a16:creationId xmlns:a16="http://schemas.microsoft.com/office/drawing/2014/main" id="{25F1CB12-E8B4-4E4B-9F7A-1182C035A9E4}"/>
              </a:ext>
            </a:extLst>
          </p:cNvPr>
          <p:cNvSpPr>
            <a:spLocks noGrp="1"/>
          </p:cNvSpPr>
          <p:nvPr/>
        </p:nvSpPr>
        <p:spPr>
          <a:xfrm>
            <a:off x="9544050" y="5191125"/>
            <a:ext cx="762000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9050">
            <a:solidFill>
              <a:srgbClr val="25475E"/>
            </a:solidFill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35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分析</a:t>
            </a:r>
          </a:p>
        </p:txBody>
      </p:sp>
      <p:sp>
        <p:nvSpPr>
          <p:cNvPr id="65" name="四角形: 角を丸くする 64">
            <a:extLst>
              <a:ext uri="{FF2B5EF4-FFF2-40B4-BE49-F238E27FC236}">
                <a16:creationId xmlns:a16="http://schemas.microsoft.com/office/drawing/2014/main" id="{764FC7C5-DBEB-463A-89BF-56675660A6CE}"/>
              </a:ext>
            </a:extLst>
          </p:cNvPr>
          <p:cNvSpPr>
            <a:spLocks noGrp="1"/>
          </p:cNvSpPr>
          <p:nvPr/>
        </p:nvSpPr>
        <p:spPr>
          <a:xfrm>
            <a:off x="9544050" y="6048375"/>
            <a:ext cx="762000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9050">
            <a:solidFill>
              <a:srgbClr val="25475E"/>
            </a:solidFill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350" b="1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配送</a:t>
            </a: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7C29DB9E-118D-4518-AE9B-CB522ED1CEF8}"/>
              </a:ext>
            </a:extLst>
          </p:cNvPr>
          <p:cNvSpPr>
            <a:spLocks noGrp="1"/>
          </p:cNvSpPr>
          <p:nvPr/>
        </p:nvSpPr>
        <p:spPr>
          <a:xfrm>
            <a:off x="6548438" y="58912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75A43912-BC1F-45D7-97E7-7C0CDCAFC8E4}"/>
              </a:ext>
            </a:extLst>
          </p:cNvPr>
          <p:cNvSpPr>
            <a:spLocks noGrp="1"/>
          </p:cNvSpPr>
          <p:nvPr/>
        </p:nvSpPr>
        <p:spPr>
          <a:xfrm>
            <a:off x="7243763" y="58912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45" name="直線矢印コネクタ 144"/>
          <p:cNvCxnSpPr>
            <a:stCxn id="66" idx="3"/>
            <a:endCxn id="67" idx="1"/>
          </p:cNvCxnSpPr>
          <p:nvPr/>
        </p:nvCxnSpPr>
        <p:spPr>
          <a:xfrm>
            <a:off x="6557963" y="5895976"/>
            <a:ext cx="685800" cy="0"/>
          </a:xfrm>
          <a:prstGeom prst="straightConnector1">
            <a:avLst/>
          </a:prstGeom>
          <a:ln w="22860">
            <a:solidFill>
              <a:srgbClr val="25475E"/>
            </a:solidFill>
            <a:prstDash val="solid"/>
            <a:tailEnd type="triangle" w="med" len="med"/>
          </a:ln>
        </p:spPr>
      </p:cxn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5985A801-D0BE-405A-8C0A-4DA93BE95065}"/>
              </a:ext>
            </a:extLst>
          </p:cNvPr>
          <p:cNvSpPr>
            <a:spLocks noGrp="1"/>
          </p:cNvSpPr>
          <p:nvPr/>
        </p:nvSpPr>
        <p:spPr>
          <a:xfrm>
            <a:off x="9082088" y="57864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EC716FBC-E41C-4263-81D5-344194C2F47A}"/>
              </a:ext>
            </a:extLst>
          </p:cNvPr>
          <p:cNvSpPr>
            <a:spLocks noGrp="1"/>
          </p:cNvSpPr>
          <p:nvPr/>
        </p:nvSpPr>
        <p:spPr>
          <a:xfrm>
            <a:off x="9501188" y="54435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48" name="直線矢印コネクタ 147"/>
          <p:cNvCxnSpPr>
            <a:stCxn id="69" idx="3"/>
            <a:endCxn id="70" idx="1"/>
          </p:cNvCxnSpPr>
          <p:nvPr/>
        </p:nvCxnSpPr>
        <p:spPr>
          <a:xfrm flipV="1">
            <a:off x="9091613" y="5448301"/>
            <a:ext cx="409575" cy="342900"/>
          </a:xfrm>
          <a:prstGeom prst="straightConnector1">
            <a:avLst/>
          </a:prstGeom>
          <a:ln w="22860">
            <a:solidFill>
              <a:srgbClr val="25475E"/>
            </a:solidFill>
            <a:prstDash val="solid"/>
            <a:tailEnd type="triangle" w="med" len="med"/>
          </a:ln>
        </p:spPr>
      </p:cxn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9522F013-A320-4B47-922D-355D97CA90DB}"/>
              </a:ext>
            </a:extLst>
          </p:cNvPr>
          <p:cNvSpPr>
            <a:spLocks noGrp="1"/>
          </p:cNvSpPr>
          <p:nvPr/>
        </p:nvSpPr>
        <p:spPr>
          <a:xfrm>
            <a:off x="9082088" y="60436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83CE174E-FD8D-434D-B9E0-55FE023DCDC7}"/>
              </a:ext>
            </a:extLst>
          </p:cNvPr>
          <p:cNvSpPr>
            <a:spLocks noGrp="1"/>
          </p:cNvSpPr>
          <p:nvPr/>
        </p:nvSpPr>
        <p:spPr>
          <a:xfrm>
            <a:off x="9501188" y="63007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151" name="直線矢印コネクタ 150"/>
          <p:cNvCxnSpPr>
            <a:stCxn id="72" idx="3"/>
            <a:endCxn id="73" idx="1"/>
          </p:cNvCxnSpPr>
          <p:nvPr/>
        </p:nvCxnSpPr>
        <p:spPr>
          <a:xfrm>
            <a:off x="9091613" y="6048376"/>
            <a:ext cx="409575" cy="257175"/>
          </a:xfrm>
          <a:prstGeom prst="straightConnector1">
            <a:avLst/>
          </a:prstGeom>
          <a:ln w="22860">
            <a:solidFill>
              <a:srgbClr val="25475E"/>
            </a:solidFill>
            <a:prstDash val="solid"/>
            <a:tailEnd type="triangle" w="med" len="med"/>
          </a:ln>
        </p:spPr>
      </p:cxn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C14D86E0-098A-4924-8B9A-082661BE6F64}"/>
              </a:ext>
            </a:extLst>
          </p:cNvPr>
          <p:cNvSpPr>
            <a:spLocks noGrp="1"/>
          </p:cNvSpPr>
          <p:nvPr/>
        </p:nvSpPr>
        <p:spPr>
          <a:xfrm>
            <a:off x="6600825" y="5581650"/>
            <a:ext cx="6286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275" b="0">
                <a:solidFill>
                  <a:srgbClr val="25475E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追記</a:t>
            </a: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8282C587-3F0E-45B3-AF05-501A0B07A176}"/>
              </a:ext>
            </a:extLst>
          </p:cNvPr>
          <p:cNvSpPr>
            <a:spLocks noGrp="1"/>
          </p:cNvSpPr>
          <p:nvPr/>
        </p:nvSpPr>
        <p:spPr>
          <a:xfrm>
            <a:off x="7010400" y="6229350"/>
            <a:ext cx="2286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275" b="0">
                <a:solidFill>
                  <a:srgbClr val="526778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再読できる</a:t>
            </a: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1C5BFB9F-60A4-4E3A-B6DB-FF01FFAC9C49}"/>
              </a:ext>
            </a:extLst>
          </p:cNvPr>
          <p:cNvSpPr>
            <a:spLocks noGrp="1"/>
          </p:cNvSpPr>
          <p:nvPr/>
        </p:nvSpPr>
        <p:spPr>
          <a:xfrm>
            <a:off x="5600700" y="6600825"/>
            <a:ext cx="4705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778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用途：ログ収集・分析</a:t>
            </a:r>
          </a:p>
        </p:txBody>
      </p:sp>
    </p:spTree>
    <p:extLst>
      <p:ext uri="{BB962C8B-B14F-4D97-AF65-F5344CB8AC3E}">
        <p14:creationId xmlns:p14="http://schemas.microsoft.com/office/powerpoint/2010/main" val="984450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0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64CB4C8-C469-434F-B357-31359125B7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692000" cy="1085850"/>
          </a:xfrm>
          <a:prstGeom prst="rect">
            <a:avLst/>
          </a:prstGeom>
          <a:solidFill>
            <a:srgbClr val="1733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17334A"/>
                </a:solidFill>
                <a:latin typeface="Yu Gothic"/>
                <a:ea typeface="Yu Gothic"/>
                <a:cs typeface="Yu Gothic"/>
              </a:defRPr>
            </a:pPr>
            <a:endParaRPr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0E69AB8-BAC2-4419-A0B4-545D428CAD7D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990600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8</a:t>
            </a:r>
            <a:r>
              <a:rPr>
                <a:latin typeface="Yu Gothic"/>
                <a:ea typeface="Yu Gothic"/>
                <a:cs typeface="Yu Gothic"/>
              </a:rPr>
              <a:t>方式の比較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B3244E4-3211-414F-A929-4B4DF032D361}"/>
              </a:ext>
            </a:extLst>
          </p:cNvPr>
          <p:cNvSpPr>
            <a:spLocks noGrp="1"/>
          </p:cNvSpPr>
          <p:nvPr/>
        </p:nvSpPr>
        <p:spPr>
          <a:xfrm>
            <a:off x="419100" y="752475"/>
            <a:ext cx="98107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0">
                <a:solidFill>
                  <a:srgbClr val="CBD6DF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強みと設計上の注意点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7F537BA-03FB-4E14-BF2F-FD13E940847F}"/>
              </a:ext>
            </a:extLst>
          </p:cNvPr>
          <p:cNvSpPr>
            <a:spLocks noGrp="1"/>
          </p:cNvSpPr>
          <p:nvPr/>
        </p:nvSpPr>
        <p:spPr>
          <a:xfrm>
            <a:off x="9696450" y="7239000"/>
            <a:ext cx="609600" cy="200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00" b="0">
                <a:solidFill>
                  <a:srgbClr val="6B7E8C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3 / 3</a:t>
            </a:r>
          </a:p>
        </p:txBody>
      </p:sp>
      <p:graphicFrame>
        <p:nvGraphicFramePr>
          <p:cNvPr id="12" name="表 11"/>
          <p:cNvGraphicFramePr/>
          <p:nvPr/>
        </p:nvGraphicFramePr>
        <p:xfrm>
          <a:off x="409575" y="1276350"/>
          <a:ext cx="9886950" cy="5286375"/>
        </p:xfrm>
        <a:graphic>
          <a:graphicData uri="http://schemas.openxmlformats.org/drawingml/2006/table">
            <a:tbl>
              <a:tblPr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方式</a:t>
                      </a:r>
                    </a:p>
                  </a:txBody>
                  <a:tcPr anchor="ctr">
                    <a:solidFill>
                      <a:srgbClr val="1733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通信の特徴</a:t>
                      </a:r>
                    </a:p>
                  </a:txBody>
                  <a:tcPr anchor="ctr">
                    <a:solidFill>
                      <a:srgbClr val="1733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用途・強み</a:t>
                      </a:r>
                    </a:p>
                  </a:txBody>
                  <a:tcPr anchor="ctr">
                    <a:solidFill>
                      <a:srgbClr val="1733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注意点</a:t>
                      </a:r>
                    </a:p>
                  </a:txBody>
                  <a:tcPr anchor="ctr">
                    <a:solidFill>
                      <a:srgbClr val="173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475E"/>
                          </a:solidFill>
                          <a:latin typeface="Cambria"/>
                          <a:ea typeface="Cambria"/>
                          <a:cs typeface="Cambria"/>
                        </a:rPr>
                        <a:t>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A"/>
                          </a:solidFill>
                          <a:latin typeface="Yu Gothic"/>
                          <a:ea typeface="Yu Gothic"/>
                          <a:cs typeface="Yu Gothic"/>
                        </a:rPr>
                        <a:t>要求と応答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A"/>
                          </a:solidFill>
                          <a:latin typeface="Yu Gothic"/>
                          <a:ea typeface="Yu Gothic"/>
                          <a:cs typeface="Yu Gothic"/>
                        </a:rPr>
                        <a:t>公開</a:t>
                      </a:r>
                      <a:r>
                        <a:rPr sz="1725" b="0">
                          <a:solidFill>
                            <a:srgbClr val="17334A"/>
                          </a:solidFill>
                          <a:latin typeface="Cambria"/>
                          <a:ea typeface="Cambria"/>
                          <a:cs typeface="Cambria"/>
                        </a:rPr>
                        <a:t>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A"/>
                          </a:solidFill>
                          <a:latin typeface="Yu Gothic"/>
                          <a:ea typeface="Yu Gothic"/>
                          <a:cs typeface="Yu Gothic"/>
                        </a:rPr>
                        <a:t>取得量・回数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475E"/>
                          </a:solidFill>
                          <a:latin typeface="Cambria"/>
                          <a:ea typeface="Cambria"/>
                          <a:cs typeface="Cambria"/>
                        </a:rPr>
                        <a:t>SOAP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A"/>
                          </a:solidFill>
                          <a:latin typeface="Cambria"/>
                          <a:ea typeface="Cambria"/>
                          <a:cs typeface="Cambria"/>
                        </a:rPr>
                        <a:t>XML</a:t>
                      </a:r>
                      <a:r>
                        <a:rPr sz="1725" b="0">
                          <a:solidFill>
                            <a:srgbClr val="17334A"/>
                          </a:solidFill>
                          <a:latin typeface="Yu Gothic"/>
                          <a:ea typeface="Yu Gothic"/>
                          <a:cs typeface="Yu Gothic"/>
                        </a:rPr>
                        <a:t>と契約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A"/>
                          </a:solidFill>
                          <a:latin typeface="Yu Gothic"/>
                          <a:ea typeface="Yu Gothic"/>
                          <a:cs typeface="Yu Gothic"/>
                        </a:rPr>
                        <a:t>企業間連携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A"/>
                          </a:solidFill>
                          <a:latin typeface="Yu Gothic"/>
                          <a:ea typeface="Yu Gothic"/>
                          <a:cs typeface="Yu Gothic"/>
                        </a:rPr>
                        <a:t>仕様の複雑さ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475E"/>
                          </a:solidFill>
                          <a:latin typeface="Cambria"/>
                          <a:ea typeface="Cambria"/>
                          <a:cs typeface="Cambria"/>
                        </a:rPr>
                        <a:t>GraphQL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A"/>
                          </a:solidFill>
                          <a:latin typeface="Yu Gothic"/>
                          <a:ea typeface="Yu Gothic"/>
                          <a:cs typeface="Yu Gothic"/>
                        </a:rPr>
                        <a:t>項目を選択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A"/>
                          </a:solidFill>
                          <a:latin typeface="Yu Gothic"/>
                          <a:ea typeface="Yu Gothic"/>
                          <a:cs typeface="Yu Gothic"/>
                        </a:rPr>
                        <a:t>柔軟なデータ取得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A"/>
                          </a:solidFill>
                          <a:latin typeface="Yu Gothic"/>
                          <a:ea typeface="Yu Gothic"/>
                          <a:cs typeface="Yu Gothic"/>
                        </a:rPr>
                        <a:t>負荷・認可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475E"/>
                          </a:solidFill>
                          <a:latin typeface="Cambria"/>
                          <a:ea typeface="Cambria"/>
                          <a:cs typeface="Cambria"/>
                        </a:rPr>
                        <a:t>gRPC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A"/>
                          </a:solidFill>
                          <a:latin typeface="Yu Gothic"/>
                          <a:ea typeface="Yu Gothic"/>
                          <a:cs typeface="Yu Gothic"/>
                        </a:rPr>
                        <a:t>型付き</a:t>
                      </a:r>
                      <a:r>
                        <a:rPr sz="1725" b="0">
                          <a:solidFill>
                            <a:srgbClr val="17334A"/>
                          </a:solidFill>
                          <a:latin typeface="Cambria"/>
                          <a:ea typeface="Cambria"/>
                          <a:cs typeface="Cambria"/>
                        </a:rPr>
                        <a:t>RPC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A"/>
                          </a:solidFill>
                          <a:latin typeface="Yu Gothic"/>
                          <a:ea typeface="Yu Gothic"/>
                          <a:cs typeface="Yu Gothic"/>
                        </a:rPr>
                        <a:t>内部サービス連携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A"/>
                          </a:solidFill>
                          <a:latin typeface="Yu Gothic"/>
                          <a:ea typeface="Yu Gothic"/>
                          <a:cs typeface="Yu Gothic"/>
                        </a:rPr>
                        <a:t>ブラウザー対応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475E"/>
                          </a:solidFill>
                          <a:latin typeface="Cambria"/>
                          <a:ea typeface="Cambria"/>
                          <a:cs typeface="Cambria"/>
                        </a:rPr>
                        <a:t>WebSocket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A"/>
                          </a:solidFill>
                          <a:latin typeface="Yu Gothic"/>
                          <a:ea typeface="Yu Gothic"/>
                          <a:cs typeface="Yu Gothic"/>
                        </a:rPr>
                        <a:t>常時・双方向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A"/>
                          </a:solidFill>
                          <a:latin typeface="Yu Gothic"/>
                          <a:ea typeface="Yu Gothic"/>
                          <a:cs typeface="Yu Gothic"/>
                        </a:rPr>
                        <a:t>チャット・共同編集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A"/>
                          </a:solidFill>
                          <a:latin typeface="Yu Gothic"/>
                          <a:ea typeface="Yu Gothic"/>
                          <a:cs typeface="Yu Gothic"/>
                        </a:rPr>
                        <a:t>再接続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475E"/>
                          </a:solidFill>
                          <a:latin typeface="Cambria"/>
                          <a:ea typeface="Cambria"/>
                          <a:cs typeface="Cambria"/>
                        </a:rPr>
                        <a:t>Webhook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A"/>
                          </a:solidFill>
                          <a:latin typeface="Yu Gothic"/>
                          <a:ea typeface="Yu Gothic"/>
                          <a:cs typeface="Yu Gothic"/>
                        </a:rPr>
                        <a:t>イベント通知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A"/>
                          </a:solidFill>
                          <a:latin typeface="Yu Gothic"/>
                          <a:ea typeface="Yu Gothic"/>
                          <a:cs typeface="Yu Gothic"/>
                        </a:rPr>
                        <a:t>決済・外部連携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A"/>
                          </a:solidFill>
                          <a:latin typeface="Yu Gothic"/>
                          <a:ea typeface="Yu Gothic"/>
                          <a:cs typeface="Yu Gothic"/>
                        </a:rPr>
                        <a:t>再送・重複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475E"/>
                          </a:solidFill>
                          <a:latin typeface="Cambria"/>
                          <a:ea typeface="Cambria"/>
                          <a:cs typeface="Cambria"/>
                        </a:rPr>
                        <a:t>MQTT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A"/>
                          </a:solidFill>
                          <a:latin typeface="Yu Gothic"/>
                          <a:ea typeface="Yu Gothic"/>
                          <a:cs typeface="Yu Gothic"/>
                        </a:rPr>
                        <a:t>仲介して配信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A"/>
                          </a:solidFill>
                          <a:latin typeface="Cambria"/>
                          <a:ea typeface="Cambria"/>
                          <a:cs typeface="Cambria"/>
                        </a:rPr>
                        <a:t>IoT</a:t>
                      </a:r>
                      <a:r>
                        <a:rPr sz="1725" b="0">
                          <a:solidFill>
                            <a:srgbClr val="17334A"/>
                          </a:solidFill>
                          <a:latin typeface="Yu Gothic"/>
                          <a:ea typeface="Yu Gothic"/>
                          <a:cs typeface="Yu Gothic"/>
                        </a:rPr>
                        <a:t>・省電力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A"/>
                          </a:solidFill>
                          <a:latin typeface="Yu Gothic"/>
                          <a:ea typeface="Yu Gothic"/>
                          <a:cs typeface="Yu Gothic"/>
                        </a:rPr>
                        <a:t>配送設定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475E"/>
                          </a:solidFill>
                          <a:latin typeface="Cambria"/>
                          <a:ea typeface="Cambria"/>
                          <a:cs typeface="Cambria"/>
                        </a:rPr>
                        <a:t>Apache Kafka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A"/>
                          </a:solidFill>
                          <a:latin typeface="Yu Gothic"/>
                          <a:ea typeface="Yu Gothic"/>
                          <a:cs typeface="Yu Gothic"/>
                        </a:rPr>
                        <a:t>蓄積・再読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A"/>
                          </a:solidFill>
                          <a:latin typeface="Yu Gothic"/>
                          <a:ea typeface="Yu Gothic"/>
                          <a:cs typeface="Yu Gothic"/>
                        </a:rPr>
                        <a:t>大量イベント・分析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A"/>
                          </a:solidFill>
                          <a:latin typeface="Yu Gothic"/>
                          <a:ea typeface="Yu Gothic"/>
                          <a:cs typeface="Yu Gothic"/>
                        </a:rPr>
                        <a:t>基盤運用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95F7728-3632-48E5-870D-B9485880EEA3}"/>
              </a:ext>
            </a:extLst>
          </p:cNvPr>
          <p:cNvSpPr>
            <a:spLocks noGrp="1"/>
          </p:cNvSpPr>
          <p:nvPr/>
        </p:nvSpPr>
        <p:spPr>
          <a:xfrm>
            <a:off x="428625" y="6734175"/>
            <a:ext cx="98679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778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Cambria"/>
                <a:ea typeface="Cambria"/>
                <a:cs typeface="Cambria"/>
              </a:rPr>
              <a:t>Kafka</a:t>
            </a:r>
            <a:r>
              <a:rPr>
                <a:latin typeface="Yu Gothic"/>
                <a:ea typeface="Yu Gothic"/>
                <a:cs typeface="Yu Gothic"/>
              </a:rPr>
              <a:t>はイベント基盤、</a:t>
            </a:r>
            <a:r>
              <a:rPr>
                <a:latin typeface="Cambria"/>
                <a:ea typeface="Cambria"/>
                <a:cs typeface="Cambria"/>
              </a:rPr>
              <a:t>Webhook</a:t>
            </a:r>
            <a:r>
              <a:rPr>
                <a:latin typeface="Yu Gothic"/>
                <a:ea typeface="Yu Gothic"/>
                <a:cs typeface="Yu Gothic"/>
              </a:rPr>
              <a:t>は通知パターン。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DFB8107-4F4C-45D1-A8AC-6D0F1FB98F8E}"/>
              </a:ext>
            </a:extLst>
          </p:cNvPr>
          <p:cNvSpPr>
            <a:spLocks noGrp="1"/>
          </p:cNvSpPr>
          <p:nvPr/>
        </p:nvSpPr>
        <p:spPr>
          <a:xfrm>
            <a:off x="428625" y="7181850"/>
            <a:ext cx="91630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0">
                <a:solidFill>
                  <a:srgbClr val="6B7E8C"/>
                </a:solidFill>
                <a:latin typeface="Yu Gothic"/>
                <a:ea typeface="Yu Gothic"/>
                <a:cs typeface="Yu Gothic"/>
              </a:defRPr>
            </a:pPr>
            <a:r>
              <a:rPr>
                <a:latin typeface="Yu Gothic"/>
                <a:ea typeface="Yu Gothic"/>
                <a:cs typeface="Yu Gothic"/>
              </a:rPr>
              <a:t>出典はノートに記載</a:t>
            </a:r>
          </a:p>
        </p:txBody>
      </p:sp>
    </p:spTree>
    <p:extLst>
      <p:ext uri="{BB962C8B-B14F-4D97-AF65-F5344CB8AC3E}">
        <p14:creationId xmlns:p14="http://schemas.microsoft.com/office/powerpoint/2010/main" val="2215002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597</Words>
  <Application>Microsoft Office PowerPoint</Application>
  <DocSecurity>0</DocSecurity>
  <PresentationFormat>ユーザー設定</PresentationFormat>
  <Paragraphs>150</Paragraphs>
  <Slides>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Yu Gothic</vt:lpstr>
      <vt:lpstr>Calibri</vt:lpstr>
      <vt:lpstr>Cambria</vt:lpstr>
      <vt:lpstr>ChatGPT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栄一 堀米</cp:lastModifiedBy>
  <cp:revision>1</cp:revision>
  <dcterms:created xsi:type="dcterms:W3CDTF">2026-09-29T15:51:23Z</dcterms:created>
  <dcterms:modified xsi:type="dcterms:W3CDTF">2026-09-29T16:19:56Z</dcterms:modified>
</cp:coreProperties>
</file>